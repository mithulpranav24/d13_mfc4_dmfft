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8" r:id="rId11"/>
    <p:sldId id="288" r:id="rId12"/>
    <p:sldId id="287" r:id="rId13"/>
    <p:sldId id="265" r:id="rId14"/>
    <p:sldId id="266" r:id="rId15"/>
    <p:sldId id="289" r:id="rId16"/>
    <p:sldId id="269" r:id="rId17"/>
    <p:sldId id="270" r:id="rId18"/>
    <p:sldId id="271" r:id="rId19"/>
    <p:sldId id="273" r:id="rId20"/>
    <p:sldId id="272" r:id="rId21"/>
    <p:sldId id="274" r:id="rId22"/>
    <p:sldId id="291" r:id="rId23"/>
    <p:sldId id="267" r:id="rId24"/>
    <p:sldId id="290" r:id="rId25"/>
    <p:sldId id="297" r:id="rId26"/>
    <p:sldId id="298" r:id="rId27"/>
    <p:sldId id="299" r:id="rId28"/>
    <p:sldId id="303" r:id="rId29"/>
    <p:sldId id="296" r:id="rId30"/>
    <p:sldId id="292" r:id="rId31"/>
    <p:sldId id="301" r:id="rId32"/>
    <p:sldId id="302" r:id="rId33"/>
    <p:sldId id="285"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showGuides="1">
      <p:cViewPr varScale="1">
        <p:scale>
          <a:sx n="107" d="100"/>
          <a:sy n="107" d="100"/>
        </p:scale>
        <p:origin x="136"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194B-108D-44C1-B29D-8F2CE83248E0}"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70F176-5058-45DD-9DEE-D45368EDD0FE}" type="slidenum">
              <a:rPr lang="en-IN" smtClean="0"/>
              <a:t>‹#›</a:t>
            </a:fld>
            <a:endParaRPr lang="en-IN"/>
          </a:p>
        </p:txBody>
      </p:sp>
    </p:spTree>
    <p:extLst>
      <p:ext uri="{BB962C8B-B14F-4D97-AF65-F5344CB8AC3E}">
        <p14:creationId xmlns:p14="http://schemas.microsoft.com/office/powerpoint/2010/main" val="1872436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70F176-5058-45DD-9DEE-D45368EDD0FE}" type="slidenum">
              <a:rPr lang="en-IN" smtClean="0"/>
              <a:t>6</a:t>
            </a:fld>
            <a:endParaRPr lang="en-IN"/>
          </a:p>
        </p:txBody>
      </p:sp>
    </p:spTree>
    <p:extLst>
      <p:ext uri="{BB962C8B-B14F-4D97-AF65-F5344CB8AC3E}">
        <p14:creationId xmlns:p14="http://schemas.microsoft.com/office/powerpoint/2010/main" val="4072373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AD61CF-DD36-420E-BF40-92CA139F6A4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DA06B1-5680-43C8-91B7-AF90B7AA761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8600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AD61CF-DD36-420E-BF40-92CA139F6A4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DA06B1-5680-43C8-91B7-AF90B7AA761D}" type="slidenum">
              <a:rPr lang="en-IN" smtClean="0"/>
              <a:t>‹#›</a:t>
            </a:fld>
            <a:endParaRPr lang="en-IN"/>
          </a:p>
        </p:txBody>
      </p:sp>
    </p:spTree>
    <p:extLst>
      <p:ext uri="{BB962C8B-B14F-4D97-AF65-F5344CB8AC3E}">
        <p14:creationId xmlns:p14="http://schemas.microsoft.com/office/powerpoint/2010/main" val="2733336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AD61CF-DD36-420E-BF40-92CA139F6A4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DA06B1-5680-43C8-91B7-AF90B7AA761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984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AD61CF-DD36-420E-BF40-92CA139F6A48}"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DA06B1-5680-43C8-91B7-AF90B7AA761D}" type="slidenum">
              <a:rPr lang="en-IN" smtClean="0"/>
              <a:t>‹#›</a:t>
            </a:fld>
            <a:endParaRPr lang="en-IN"/>
          </a:p>
        </p:txBody>
      </p:sp>
    </p:spTree>
    <p:extLst>
      <p:ext uri="{BB962C8B-B14F-4D97-AF65-F5344CB8AC3E}">
        <p14:creationId xmlns:p14="http://schemas.microsoft.com/office/powerpoint/2010/main" val="3637993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AD61CF-DD36-420E-BF40-92CA139F6A48}" type="datetimeFigureOut">
              <a:rPr lang="en-IN" smtClean="0"/>
              <a:t>14-03-2026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DA06B1-5680-43C8-91B7-AF90B7AA761D}" type="slidenum">
              <a:rPr lang="en-IN" smtClean="0"/>
              <a:t>‹#›</a:t>
            </a:fld>
            <a:endParaRPr lang="en-IN"/>
          </a:p>
        </p:txBody>
      </p:sp>
    </p:spTree>
    <p:extLst>
      <p:ext uri="{BB962C8B-B14F-4D97-AF65-F5344CB8AC3E}">
        <p14:creationId xmlns:p14="http://schemas.microsoft.com/office/powerpoint/2010/main" val="1168661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AD61CF-DD36-420E-BF40-92CA139F6A48}" type="datetimeFigureOut">
              <a:rPr lang="en-IN" smtClean="0"/>
              <a:t>14-03-2026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DA06B1-5680-43C8-91B7-AF90B7AA761D}" type="slidenum">
              <a:rPr lang="en-IN" smtClean="0"/>
              <a:t>‹#›</a:t>
            </a:fld>
            <a:endParaRPr lang="en-IN"/>
          </a:p>
        </p:txBody>
      </p:sp>
    </p:spTree>
    <p:extLst>
      <p:ext uri="{BB962C8B-B14F-4D97-AF65-F5344CB8AC3E}">
        <p14:creationId xmlns:p14="http://schemas.microsoft.com/office/powerpoint/2010/main" val="1048526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9AD61CF-DD36-420E-BF40-92CA139F6A48}" type="datetimeFigureOut">
              <a:rPr lang="en-IN" smtClean="0"/>
              <a:t>14-03-2026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30DA06B1-5680-43C8-91B7-AF90B7AA761D}" type="slidenum">
              <a:rPr lang="en-IN" smtClean="0"/>
              <a:t>‹#›</a:t>
            </a:fld>
            <a:endParaRPr lang="en-IN"/>
          </a:p>
        </p:txBody>
      </p:sp>
    </p:spTree>
    <p:extLst>
      <p:ext uri="{BB962C8B-B14F-4D97-AF65-F5344CB8AC3E}">
        <p14:creationId xmlns:p14="http://schemas.microsoft.com/office/powerpoint/2010/main" val="1178536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9AD61CF-DD36-420E-BF40-92CA139F6A48}" type="datetimeFigureOut">
              <a:rPr lang="en-IN" smtClean="0"/>
              <a:t>14-03-2026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0DA06B1-5680-43C8-91B7-AF90B7AA761D}" type="slidenum">
              <a:rPr lang="en-IN" smtClean="0"/>
              <a:t>‹#›</a:t>
            </a:fld>
            <a:endParaRPr lang="en-IN"/>
          </a:p>
        </p:txBody>
      </p:sp>
    </p:spTree>
    <p:extLst>
      <p:ext uri="{BB962C8B-B14F-4D97-AF65-F5344CB8AC3E}">
        <p14:creationId xmlns:p14="http://schemas.microsoft.com/office/powerpoint/2010/main" val="3713408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AD61CF-DD36-420E-BF40-92CA139F6A48}"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DA06B1-5680-43C8-91B7-AF90B7AA761D}" type="slidenum">
              <a:rPr lang="en-IN" smtClean="0"/>
              <a:t>‹#›</a:t>
            </a:fld>
            <a:endParaRPr lang="en-IN"/>
          </a:p>
        </p:txBody>
      </p:sp>
    </p:spTree>
    <p:extLst>
      <p:ext uri="{BB962C8B-B14F-4D97-AF65-F5344CB8AC3E}">
        <p14:creationId xmlns:p14="http://schemas.microsoft.com/office/powerpoint/2010/main" val="1678253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AD61CF-DD36-420E-BF40-92CA139F6A4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DA06B1-5680-43C8-91B7-AF90B7AA761D}" type="slidenum">
              <a:rPr lang="en-IN" smtClean="0"/>
              <a:t>‹#›</a:t>
            </a:fld>
            <a:endParaRPr lang="en-IN"/>
          </a:p>
        </p:txBody>
      </p:sp>
    </p:spTree>
    <p:extLst>
      <p:ext uri="{BB962C8B-B14F-4D97-AF65-F5344CB8AC3E}">
        <p14:creationId xmlns:p14="http://schemas.microsoft.com/office/powerpoint/2010/main" val="399490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AD61CF-DD36-420E-BF40-92CA139F6A4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DA06B1-5680-43C8-91B7-AF90B7AA761D}" type="slidenum">
              <a:rPr lang="en-IN" smtClean="0"/>
              <a:t>‹#›</a:t>
            </a:fld>
            <a:endParaRPr lang="en-IN"/>
          </a:p>
        </p:txBody>
      </p:sp>
    </p:spTree>
    <p:extLst>
      <p:ext uri="{BB962C8B-B14F-4D97-AF65-F5344CB8AC3E}">
        <p14:creationId xmlns:p14="http://schemas.microsoft.com/office/powerpoint/2010/main" val="3786465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9AD61CF-DD36-420E-BF40-92CA139F6A48}" type="datetimeFigureOut">
              <a:rPr lang="en-IN" smtClean="0"/>
              <a:t>14-03-2026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0DA06B1-5680-43C8-91B7-AF90B7AA761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5796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3EF03-7260-8361-FAC2-5D3760FD920C}"/>
              </a:ext>
            </a:extLst>
          </p:cNvPr>
          <p:cNvSpPr>
            <a:spLocks noGrp="1"/>
          </p:cNvSpPr>
          <p:nvPr>
            <p:ph type="ctrTitle"/>
          </p:nvPr>
        </p:nvSpPr>
        <p:spPr>
          <a:xfrm>
            <a:off x="1270000" y="411819"/>
            <a:ext cx="9885680" cy="3566160"/>
          </a:xfrm>
        </p:spPr>
        <p:txBody>
          <a:bodyPr>
            <a:normAutofit/>
          </a:bodyPr>
          <a:lstStyle/>
          <a:p>
            <a:pPr algn="ctr"/>
            <a:r>
              <a:rPr lang="en-US" sz="4400" b="1" dirty="0"/>
              <a:t>Mathematics For Computing – 4 (22MAT230)</a:t>
            </a:r>
            <a:br>
              <a:rPr lang="en-US" sz="4400" b="1" dirty="0"/>
            </a:br>
            <a:br>
              <a:rPr lang="en-US" sz="4400" b="1" dirty="0"/>
            </a:br>
            <a:r>
              <a:rPr lang="en-US" sz="4400" dirty="0"/>
              <a:t>DMFFT: Improving The Generation Quality Of Diffusion Models Using Fast Fourier Transform</a:t>
            </a:r>
            <a:endParaRPr lang="en-IN" sz="4400" dirty="0"/>
          </a:p>
        </p:txBody>
      </p:sp>
      <p:sp>
        <p:nvSpPr>
          <p:cNvPr id="3" name="Subtitle 2">
            <a:extLst>
              <a:ext uri="{FF2B5EF4-FFF2-40B4-BE49-F238E27FC236}">
                <a16:creationId xmlns:a16="http://schemas.microsoft.com/office/drawing/2014/main" id="{9901F8C9-D589-9693-01F8-6A90B12C01C4}"/>
              </a:ext>
            </a:extLst>
          </p:cNvPr>
          <p:cNvSpPr>
            <a:spLocks noGrp="1"/>
          </p:cNvSpPr>
          <p:nvPr>
            <p:ph type="subTitle" idx="1"/>
          </p:nvPr>
        </p:nvSpPr>
        <p:spPr>
          <a:xfrm>
            <a:off x="1100051" y="4455619"/>
            <a:ext cx="10058400" cy="1758913"/>
          </a:xfrm>
        </p:spPr>
        <p:txBody>
          <a:bodyPr>
            <a:normAutofit fontScale="70000" lnSpcReduction="20000"/>
          </a:bodyPr>
          <a:lstStyle/>
          <a:p>
            <a:pPr algn="ctr"/>
            <a:r>
              <a:rPr lang="en-IN" dirty="0"/>
              <a:t>By</a:t>
            </a:r>
          </a:p>
          <a:p>
            <a:pPr algn="ctr"/>
            <a:r>
              <a:rPr lang="en-IN" dirty="0"/>
              <a:t>Kiruthika (CB.SC.U4AIE24329)</a:t>
            </a:r>
          </a:p>
          <a:p>
            <a:pPr algn="ctr"/>
            <a:r>
              <a:rPr lang="en-IN" dirty="0"/>
              <a:t>MITHUL PRANAV ( CB.SC.U4AIE24331)</a:t>
            </a:r>
          </a:p>
          <a:p>
            <a:pPr algn="ctr"/>
            <a:r>
              <a:rPr lang="en-IN" dirty="0"/>
              <a:t>MAALIKA P ( CB.SC.U4AIE24332 )</a:t>
            </a:r>
          </a:p>
          <a:p>
            <a:pPr algn="ctr"/>
            <a:r>
              <a:rPr lang="en-IN" dirty="0"/>
              <a:t>RITHAN S ( CB.SC.U4AIE24348 )</a:t>
            </a:r>
          </a:p>
        </p:txBody>
      </p:sp>
    </p:spTree>
    <p:extLst>
      <p:ext uri="{BB962C8B-B14F-4D97-AF65-F5344CB8AC3E}">
        <p14:creationId xmlns:p14="http://schemas.microsoft.com/office/powerpoint/2010/main" val="3120370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40C54-8C55-4D43-46A2-8C3C4DE8AF42}"/>
              </a:ext>
            </a:extLst>
          </p:cNvPr>
          <p:cNvSpPr>
            <a:spLocks noGrp="1"/>
          </p:cNvSpPr>
          <p:nvPr>
            <p:ph type="title"/>
          </p:nvPr>
        </p:nvSpPr>
        <p:spPr/>
        <p:txBody>
          <a:bodyPr/>
          <a:lstStyle/>
          <a:p>
            <a:pPr algn="ctr"/>
            <a:r>
              <a:rPr lang="en-IN" dirty="0"/>
              <a:t>Introduction</a:t>
            </a:r>
          </a:p>
        </p:txBody>
      </p:sp>
      <p:sp>
        <p:nvSpPr>
          <p:cNvPr id="3" name="Content Placeholder 2">
            <a:extLst>
              <a:ext uri="{FF2B5EF4-FFF2-40B4-BE49-F238E27FC236}">
                <a16:creationId xmlns:a16="http://schemas.microsoft.com/office/drawing/2014/main" id="{2A712675-47BD-B272-C094-390F037CDF0A}"/>
              </a:ext>
            </a:extLst>
          </p:cNvPr>
          <p:cNvSpPr>
            <a:spLocks noGrp="1"/>
          </p:cNvSpPr>
          <p:nvPr>
            <p:ph idx="1"/>
          </p:nvPr>
        </p:nvSpPr>
        <p:spPr>
          <a:xfrm>
            <a:off x="524933" y="1845734"/>
            <a:ext cx="5774267" cy="4023360"/>
          </a:xfrm>
        </p:spPr>
        <p:txBody>
          <a:bodyPr>
            <a:normAutofit fontScale="92500" lnSpcReduction="20000"/>
          </a:bodyPr>
          <a:lstStyle/>
          <a:p>
            <a:pPr algn="ctr"/>
            <a:r>
              <a:rPr lang="en-IN" b="1" dirty="0"/>
              <a:t>Diffusion Models</a:t>
            </a:r>
          </a:p>
          <a:p>
            <a:pPr fontAlgn="base">
              <a:buFont typeface="Arial" panose="020B0604020202020204" pitchFamily="34" charset="0"/>
              <a:buChar char="•"/>
            </a:pPr>
            <a:r>
              <a:rPr lang="en-US" dirty="0"/>
              <a:t>Diffusion models are generative models that learn to reverse a diffusion process to generate data. The diffusion process involves gradually adding noise to data until it becomes pure noise.</a:t>
            </a:r>
          </a:p>
          <a:p>
            <a:pPr fontAlgn="base">
              <a:buFont typeface="Arial" panose="020B0604020202020204" pitchFamily="34" charset="0"/>
              <a:buChar char="•"/>
            </a:pPr>
            <a:r>
              <a:rPr lang="en-US" dirty="0"/>
              <a:t>Through this process, a simple distribution is transformed into a complex data distribution in a series of small incremental steps.</a:t>
            </a:r>
          </a:p>
          <a:p>
            <a:pPr fontAlgn="base">
              <a:buFont typeface="Arial" panose="020B0604020202020204" pitchFamily="34" charset="0"/>
              <a:buChar char="•"/>
            </a:pPr>
            <a:r>
              <a:rPr lang="en-US" dirty="0"/>
              <a:t>Essentially, these models operate as a reverse diffusion phenomenon where noise is introduced to the data in a forward manner and removed in a reverse manner to generate new data samples.</a:t>
            </a:r>
          </a:p>
          <a:p>
            <a:pPr fontAlgn="base">
              <a:buFont typeface="Arial" panose="020B0604020202020204" pitchFamily="34" charset="0"/>
              <a:buChar char="•"/>
            </a:pPr>
            <a:r>
              <a:rPr lang="en-US" dirty="0"/>
              <a:t>By learning to reverse this process, diffusion models start from noise and gradually denoise it to produce data that closely resembles the training examples.</a:t>
            </a:r>
          </a:p>
          <a:p>
            <a:endParaRPr lang="en-IN" dirty="0"/>
          </a:p>
        </p:txBody>
      </p:sp>
      <p:pic>
        <p:nvPicPr>
          <p:cNvPr id="5" name="Picture 4">
            <a:extLst>
              <a:ext uri="{FF2B5EF4-FFF2-40B4-BE49-F238E27FC236}">
                <a16:creationId xmlns:a16="http://schemas.microsoft.com/office/drawing/2014/main" id="{93CC9353-79D4-0163-0857-A99EABD9912B}"/>
              </a:ext>
            </a:extLst>
          </p:cNvPr>
          <p:cNvPicPr>
            <a:picLocks noChangeAspect="1"/>
          </p:cNvPicPr>
          <p:nvPr/>
        </p:nvPicPr>
        <p:blipFill>
          <a:blip r:embed="rId2"/>
          <a:stretch>
            <a:fillRect/>
          </a:stretch>
        </p:blipFill>
        <p:spPr>
          <a:xfrm>
            <a:off x="6417732" y="1930400"/>
            <a:ext cx="5774268" cy="3938693"/>
          </a:xfrm>
          <a:prstGeom prst="rect">
            <a:avLst/>
          </a:prstGeom>
        </p:spPr>
      </p:pic>
    </p:spTree>
    <p:extLst>
      <p:ext uri="{BB962C8B-B14F-4D97-AF65-F5344CB8AC3E}">
        <p14:creationId xmlns:p14="http://schemas.microsoft.com/office/powerpoint/2010/main" val="1006887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318D-D3A2-14C6-BCE0-69CE3D573F0E}"/>
              </a:ext>
            </a:extLst>
          </p:cNvPr>
          <p:cNvSpPr>
            <a:spLocks noGrp="1"/>
          </p:cNvSpPr>
          <p:nvPr>
            <p:ph type="title"/>
          </p:nvPr>
        </p:nvSpPr>
        <p:spPr/>
        <p:txBody>
          <a:bodyPr/>
          <a:lstStyle/>
          <a:p>
            <a:pPr algn="ctr"/>
            <a:r>
              <a:rPr lang="en-IN" dirty="0"/>
              <a:t>Problem Statement</a:t>
            </a:r>
          </a:p>
        </p:txBody>
      </p:sp>
      <p:sp>
        <p:nvSpPr>
          <p:cNvPr id="3" name="Content Placeholder 2">
            <a:extLst>
              <a:ext uri="{FF2B5EF4-FFF2-40B4-BE49-F238E27FC236}">
                <a16:creationId xmlns:a16="http://schemas.microsoft.com/office/drawing/2014/main" id="{982B6903-8A1C-0E17-C0CF-357D9EADF3CE}"/>
              </a:ext>
            </a:extLst>
          </p:cNvPr>
          <p:cNvSpPr>
            <a:spLocks noGrp="1"/>
          </p:cNvSpPr>
          <p:nvPr>
            <p:ph idx="1"/>
          </p:nvPr>
        </p:nvSpPr>
        <p:spPr/>
        <p:txBody>
          <a:bodyPr/>
          <a:lstStyle/>
          <a:p>
            <a:r>
              <a:rPr lang="en-US" dirty="0"/>
              <a:t>Current Diffusion Models (such as Stable Diffusion) face a critical trade-off between generation quality and computational cost. Improving visual quality, specifically text alignment, structural layout, and fine textures, typically requires: </a:t>
            </a:r>
          </a:p>
          <a:p>
            <a:pPr>
              <a:buFont typeface="Arial" panose="020B0604020202020204" pitchFamily="34" charset="0"/>
              <a:buChar char="•"/>
            </a:pPr>
            <a:r>
              <a:rPr lang="en-US" dirty="0"/>
              <a:t>Massive increases in parameters and network size.</a:t>
            </a:r>
          </a:p>
          <a:p>
            <a:pPr>
              <a:buFont typeface="Arial" panose="020B0604020202020204" pitchFamily="34" charset="0"/>
              <a:buChar char="•"/>
            </a:pPr>
            <a:r>
              <a:rPr lang="en-US" dirty="0"/>
              <a:t>Costly re-training or fine-tuning of complex attention mechanisms and conditional guidance. </a:t>
            </a:r>
          </a:p>
          <a:p>
            <a:pPr>
              <a:buFont typeface="Arial" panose="020B0604020202020204" pitchFamily="34" charset="0"/>
              <a:buChar char="•"/>
            </a:pPr>
            <a:r>
              <a:rPr lang="en-US" dirty="0"/>
              <a:t>Excessive smoothing of textures during the denoising process, often seen in existing frequency modulation methods, which fail to transform backbone features into the frequency domain or apply amplitude and phase adjustments</a:t>
            </a:r>
            <a:endParaRPr lang="en-IN" dirty="0"/>
          </a:p>
        </p:txBody>
      </p:sp>
    </p:spTree>
    <p:extLst>
      <p:ext uri="{BB962C8B-B14F-4D97-AF65-F5344CB8AC3E}">
        <p14:creationId xmlns:p14="http://schemas.microsoft.com/office/powerpoint/2010/main" val="1651452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761DA-AFC9-72B0-4C53-7F8CE50C5276}"/>
              </a:ext>
            </a:extLst>
          </p:cNvPr>
          <p:cNvSpPr>
            <a:spLocks noGrp="1"/>
          </p:cNvSpPr>
          <p:nvPr>
            <p:ph type="title"/>
          </p:nvPr>
        </p:nvSpPr>
        <p:spPr/>
        <p:txBody>
          <a:bodyPr/>
          <a:lstStyle/>
          <a:p>
            <a:pPr algn="ctr"/>
            <a:r>
              <a:rPr lang="en-IN" dirty="0"/>
              <a:t>Objective</a:t>
            </a:r>
          </a:p>
        </p:txBody>
      </p:sp>
      <p:sp>
        <p:nvSpPr>
          <p:cNvPr id="4" name="Rectangle 1">
            <a:extLst>
              <a:ext uri="{FF2B5EF4-FFF2-40B4-BE49-F238E27FC236}">
                <a16:creationId xmlns:a16="http://schemas.microsoft.com/office/drawing/2014/main" id="{C2D5535F-92E9-267F-4042-47E20B273D70}"/>
              </a:ext>
            </a:extLst>
          </p:cNvPr>
          <p:cNvSpPr>
            <a:spLocks noGrp="1" noChangeArrowheads="1"/>
          </p:cNvSpPr>
          <p:nvPr>
            <p:ph idx="1"/>
          </p:nvPr>
        </p:nvSpPr>
        <p:spPr bwMode="auto">
          <a:xfrm>
            <a:off x="1097279" y="2449335"/>
            <a:ext cx="10885715"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The primary objective of this research is to propose </a:t>
            </a:r>
            <a:r>
              <a:rPr kumimoji="0" lang="en-US" altLang="en-US" sz="1800" b="1" i="0" u="none" strike="noStrike" cap="none" normalizeH="0" baseline="0" dirty="0">
                <a:ln>
                  <a:noFill/>
                </a:ln>
                <a:solidFill>
                  <a:schemeClr val="tx1"/>
                </a:solidFill>
                <a:effectLst/>
                <a:latin typeface="Google Sans Text"/>
              </a:rPr>
              <a:t>DMFFT</a:t>
            </a:r>
            <a:r>
              <a:rPr kumimoji="0" lang="en-US" altLang="en-US" sz="1800" b="0" i="0" u="none" strike="noStrike" cap="none" normalizeH="0" baseline="0" dirty="0">
                <a:ln>
                  <a:noFill/>
                </a:ln>
                <a:solidFill>
                  <a:schemeClr val="tx1"/>
                </a:solidFill>
                <a:effectLst/>
                <a:latin typeface="Google Sans Text"/>
              </a:rPr>
              <a:t> (Diffusion Models using Fast Fourier Transform), to enhance generation quality</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Specifically, the method aims to:</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Integrate Frequency Domain Analysis into the Sampling Process:</a:t>
            </a:r>
            <a:r>
              <a:rPr kumimoji="0" lang="en-US" altLang="en-US" sz="1800" b="0" i="0" u="none" strike="noStrike" cap="none" normalizeH="0" baseline="0" dirty="0">
                <a:ln>
                  <a:noFill/>
                </a:ln>
                <a:solidFill>
                  <a:schemeClr val="tx1"/>
                </a:solidFill>
                <a:effectLst/>
                <a:latin typeface="Google Sans Text"/>
              </a:rPr>
              <a:t> Decompose U-Net feature extraction results from both the </a:t>
            </a:r>
            <a:r>
              <a:rPr kumimoji="0" lang="en-US" altLang="en-US" sz="1800" b="1" i="0" u="none" strike="noStrike" cap="none" normalizeH="0" baseline="0" dirty="0">
                <a:ln>
                  <a:noFill/>
                </a:ln>
                <a:solidFill>
                  <a:schemeClr val="tx1"/>
                </a:solidFill>
                <a:effectLst/>
                <a:latin typeface="Google Sans Text"/>
              </a:rPr>
              <a:t>backbone</a:t>
            </a:r>
            <a:r>
              <a:rPr kumimoji="0" lang="en-US" altLang="en-US" sz="1800" b="0" i="0" u="none" strike="noStrike" cap="none" normalizeH="0" baseline="0" dirty="0">
                <a:ln>
                  <a:noFill/>
                </a:ln>
                <a:solidFill>
                  <a:schemeClr val="tx1"/>
                </a:solidFill>
                <a:effectLst/>
                <a:latin typeface="Google Sans Text"/>
              </a:rPr>
              <a:t> and </a:t>
            </a:r>
            <a:r>
              <a:rPr kumimoji="0" lang="en-US" altLang="en-US" sz="1800" b="1" i="0" u="none" strike="noStrike" cap="none" normalizeH="0" baseline="0" dirty="0">
                <a:ln>
                  <a:noFill/>
                </a:ln>
                <a:solidFill>
                  <a:schemeClr val="tx1"/>
                </a:solidFill>
                <a:effectLst/>
                <a:latin typeface="Google Sans Text"/>
              </a:rPr>
              <a:t>lateral skip connections</a:t>
            </a:r>
            <a:r>
              <a:rPr kumimoji="0" lang="en-US" altLang="en-US" sz="1800" b="0" i="0" u="none" strike="noStrike" cap="none" normalizeH="0" baseline="0" dirty="0">
                <a:ln>
                  <a:noFill/>
                </a:ln>
                <a:solidFill>
                  <a:schemeClr val="tx1"/>
                </a:solidFill>
                <a:effectLst/>
                <a:latin typeface="Google Sans Text"/>
              </a:rPr>
              <a:t> into their frequency, amplitude, and phase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Provide Precise Visual Control:</a:t>
            </a:r>
            <a:r>
              <a:rPr kumimoji="0" lang="en-US" altLang="en-US" sz="1800" b="0" i="0" u="none" strike="noStrike" cap="none" normalizeH="0" baseline="0" dirty="0">
                <a:ln>
                  <a:noFill/>
                </a:ln>
                <a:solidFill>
                  <a:schemeClr val="tx1"/>
                </a:solidFill>
                <a:effectLst/>
                <a:latin typeface="Google Sans Text"/>
              </a:rPr>
              <a:t> Establish suggested scaling intervals for high-frequency features to </a:t>
            </a:r>
            <a:r>
              <a:rPr kumimoji="0" lang="en-US" altLang="en-US" sz="1800" b="0" i="0" u="none" strike="noStrike" cap="none" normalizeH="0" baseline="0" dirty="0" err="1">
                <a:ln>
                  <a:noFill/>
                </a:ln>
                <a:solidFill>
                  <a:schemeClr val="tx1"/>
                </a:solidFill>
                <a:effectLst/>
                <a:latin typeface="Google Sans Text"/>
              </a:rPr>
              <a:t>optimise</a:t>
            </a:r>
            <a:r>
              <a:rPr kumimoji="0" lang="en-US" altLang="en-US" sz="1800" b="0" i="0" u="none" strike="noStrike" cap="none" normalizeH="0" baseline="0" dirty="0">
                <a:ln>
                  <a:noFill/>
                </a:ln>
                <a:solidFill>
                  <a:schemeClr val="tx1"/>
                </a:solidFill>
                <a:effectLst/>
                <a:latin typeface="Google Sans Text"/>
              </a:rPr>
              <a:t> semantics and brightness, and low-frequency features to improve clarity and texture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Improve Efficiency:</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Utilise</a:t>
            </a:r>
            <a:r>
              <a:rPr kumimoji="0" lang="en-US" altLang="en-US" sz="1800" b="0" i="0" u="none" strike="noStrike" cap="none" normalizeH="0" baseline="0" dirty="0">
                <a:ln>
                  <a:noFill/>
                </a:ln>
                <a:solidFill>
                  <a:schemeClr val="tx1"/>
                </a:solidFill>
                <a:effectLst/>
                <a:latin typeface="Google Sans Text"/>
              </a:rPr>
              <a:t> the </a:t>
            </a:r>
            <a:r>
              <a:rPr kumimoji="0" lang="en-US" altLang="en-US" sz="1800" b="1" i="0" u="none" strike="noStrike" cap="none" normalizeH="0" baseline="0" dirty="0">
                <a:ln>
                  <a:noFill/>
                </a:ln>
                <a:solidFill>
                  <a:schemeClr val="tx1"/>
                </a:solidFill>
                <a:effectLst/>
                <a:latin typeface="Google Sans Text"/>
              </a:rPr>
              <a:t>Fast Fourier Transform (FFT)</a:t>
            </a:r>
            <a:r>
              <a:rPr kumimoji="0" lang="en-US" altLang="en-US" sz="1800" b="0" i="0" u="none" strike="noStrike" cap="none" normalizeH="0" baseline="0" dirty="0">
                <a:ln>
                  <a:noFill/>
                </a:ln>
                <a:solidFill>
                  <a:schemeClr val="tx1"/>
                </a:solidFill>
                <a:effectLst/>
                <a:latin typeface="Google Sans Text"/>
              </a:rPr>
              <a:t> to maintain a low time complexity (O(N log N) ), ensuring that quality improvements add negligible inference time without increasing memory consumption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6858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D9D2-C129-79F9-2AB4-17883CFC61E5}"/>
              </a:ext>
            </a:extLst>
          </p:cNvPr>
          <p:cNvSpPr>
            <a:spLocks noGrp="1"/>
          </p:cNvSpPr>
          <p:nvPr>
            <p:ph type="title"/>
          </p:nvPr>
        </p:nvSpPr>
        <p:spPr/>
        <p:txBody>
          <a:bodyPr/>
          <a:lstStyle/>
          <a:p>
            <a:pPr algn="ctr"/>
            <a:r>
              <a:rPr lang="en-IN" dirty="0"/>
              <a:t>Methodology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5167E0-B0D1-EABE-A45E-1EA662BBABDB}"/>
                  </a:ext>
                </a:extLst>
              </p:cNvPr>
              <p:cNvSpPr>
                <a:spLocks noGrp="1"/>
              </p:cNvSpPr>
              <p:nvPr>
                <p:ph idx="1"/>
              </p:nvPr>
            </p:nvSpPr>
            <p:spPr/>
            <p:txBody>
              <a:bodyPr/>
              <a:lstStyle/>
              <a:p>
                <a:r>
                  <a:rPr lang="en-IN" dirty="0"/>
                  <a:t>Key Components In Diffusion Models</a:t>
                </a:r>
              </a:p>
              <a:p>
                <a:pPr fontAlgn="base"/>
                <a:r>
                  <a:rPr lang="en-US" b="1" dirty="0"/>
                  <a:t>Forward Diffusion Process</a:t>
                </a:r>
              </a:p>
              <a:p>
                <a:pPr fontAlgn="base"/>
                <a:r>
                  <a:rPr lang="en-US" dirty="0"/>
                  <a:t>In this process, noise is incrementally added to the data over a series of steps. This is akin to a Markov Chain where each step slightly degrades the data by adding Gaussian noise.</a:t>
                </a:r>
              </a:p>
              <a:p>
                <a:pPr fontAlgn="base"/>
                <a:r>
                  <a:rPr lang="en-IN" dirty="0"/>
                  <a:t>Mathematically, this can be represented as:</a:t>
                </a:r>
              </a:p>
              <a:p>
                <a:pPr fontAlgn="base"/>
                <a14:m>
                  <m:oMath xmlns:m="http://schemas.openxmlformats.org/officeDocument/2006/math">
                    <m:d>
                      <m:dPr>
                        <m:ctrlPr>
                          <a:rPr lang="ar-AE" i="1" smtClean="0">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d>
                    <m:r>
                      <a:rPr lang="ar-AE">
                        <a:latin typeface="Cambria Math" panose="02040503050406030204" pitchFamily="18" charset="0"/>
                      </a:rPr>
                      <m:t>=</m:t>
                    </m:r>
                    <m:r>
                      <a:rPr lang="ar-AE">
                        <a:latin typeface="Cambria Math" panose="02040503050406030204" pitchFamily="18" charset="0"/>
                      </a:rPr>
                      <m:t>𝒩</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e>
                        <m:rad>
                          <m:radPr>
                            <m:degHide m:val="on"/>
                            <m:ctrlPr>
                              <a:rPr lang="ar-AE" i="1">
                                <a:latin typeface="Cambria Math" panose="02040503050406030204" pitchFamily="18" charset="0"/>
                              </a:rPr>
                            </m:ctrlPr>
                          </m:radPr>
                          <m:deg/>
                          <m:e>
                            <m:sSub>
                              <m:sSubPr>
                                <m:ctrlPr>
                                  <a:rPr lang="ar-AE" i="1">
                                    <a:latin typeface="Cambria Math" panose="02040503050406030204" pitchFamily="18" charset="0"/>
                                  </a:rPr>
                                </m:ctrlPr>
                              </m:sSubPr>
                              <m:e>
                                <m:r>
                                  <a:rPr lang="ar-AE" i="1">
                                    <a:latin typeface="Cambria Math" panose="02040503050406030204" pitchFamily="18" charset="0"/>
                                  </a:rPr>
                                  <m:t>𝛼</m:t>
                                </m:r>
                              </m:e>
                              <m:sub>
                                <m:r>
                                  <a:rPr lang="ar-AE" i="1">
                                    <a:latin typeface="Cambria Math" panose="02040503050406030204" pitchFamily="18" charset="0"/>
                                  </a:rPr>
                                  <m:t>𝑡</m:t>
                                </m:r>
                              </m:sub>
                            </m:sSub>
                          </m:e>
                        </m:rad>
                      </m:e>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𝛼</m:t>
                                </m:r>
                              </m:e>
                              <m:sub>
                                <m:r>
                                  <a:rPr lang="ar-AE" i="1">
                                    <a:latin typeface="Cambria Math" panose="02040503050406030204" pitchFamily="18" charset="0"/>
                                  </a:rPr>
                                  <m:t>𝑡</m:t>
                                </m:r>
                              </m:sub>
                            </m:sSub>
                          </m:e>
                        </m:d>
                        <m:r>
                          <a:rPr lang="ar-AE" i="1">
                            <a:latin typeface="Cambria Math" panose="02040503050406030204" pitchFamily="18" charset="0"/>
                          </a:rPr>
                          <m:t>𝐼</m:t>
                        </m:r>
                      </m:e>
                    </m:d>
                  </m:oMath>
                </a14:m>
                <a:endParaRPr lang="en-IN" i="1" dirty="0"/>
              </a:p>
              <a:p>
                <a:pPr fontAlgn="base"/>
                <a:r>
                  <a:rPr lang="en-IN" dirty="0"/>
                  <a:t>where,</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ar-AE" dirty="0"/>
                  <a:t> </a:t>
                </a:r>
                <a:r>
                  <a:rPr lang="en-IN" dirty="0"/>
                  <a:t>is the noisy data at step t</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𝛼</m:t>
                        </m:r>
                      </m:e>
                      <m:sub>
                        <m:r>
                          <a:rPr lang="ar-AE" i="1">
                            <a:latin typeface="Cambria Math" panose="02040503050406030204" pitchFamily="18" charset="0"/>
                          </a:rPr>
                          <m:t>𝑡</m:t>
                        </m:r>
                      </m:sub>
                    </m:sSub>
                  </m:oMath>
                </a14:m>
                <a:r>
                  <a:rPr lang="ar-AE" dirty="0"/>
                  <a:t> </a:t>
                </a:r>
                <a:r>
                  <a:rPr lang="en-IN" dirty="0"/>
                  <a:t>controls the amount of noise added.</a:t>
                </a:r>
              </a:p>
              <a:p>
                <a:pPr fontAlgn="base"/>
                <a:endParaRPr lang="ar-AE" i="1" dirty="0"/>
              </a:p>
              <a:p>
                <a:pPr fontAlgn="base"/>
                <a:endParaRPr lang="en-US" dirty="0"/>
              </a:p>
              <a:p>
                <a:endParaRPr lang="en-IN" u="sng" dirty="0"/>
              </a:p>
            </p:txBody>
          </p:sp>
        </mc:Choice>
        <mc:Fallback xmlns="">
          <p:sp>
            <p:nvSpPr>
              <p:cNvPr id="3" name="Content Placeholder 2">
                <a:extLst>
                  <a:ext uri="{FF2B5EF4-FFF2-40B4-BE49-F238E27FC236}">
                    <a16:creationId xmlns:a16="http://schemas.microsoft.com/office/drawing/2014/main" id="{1E5167E0-B0D1-EABE-A45E-1EA662BBABDB}"/>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n-IN">
                    <a:noFill/>
                  </a:rPr>
                  <a:t> </a:t>
                </a:r>
              </a:p>
            </p:txBody>
          </p:sp>
        </mc:Fallback>
      </mc:AlternateContent>
    </p:spTree>
    <p:extLst>
      <p:ext uri="{BB962C8B-B14F-4D97-AF65-F5344CB8AC3E}">
        <p14:creationId xmlns:p14="http://schemas.microsoft.com/office/powerpoint/2010/main" val="407118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ECEA60-958F-D0E2-AAA0-2155C8F4E0BB}"/>
                  </a:ext>
                </a:extLst>
              </p:cNvPr>
              <p:cNvSpPr>
                <a:spLocks noGrp="1"/>
              </p:cNvSpPr>
              <p:nvPr>
                <p:ph idx="1"/>
              </p:nvPr>
            </p:nvSpPr>
            <p:spPr>
              <a:xfrm>
                <a:off x="651932" y="2015067"/>
                <a:ext cx="10503747" cy="3854027"/>
              </a:xfrm>
            </p:spPr>
            <p:txBody>
              <a:bodyPr>
                <a:normAutofit fontScale="25000" lnSpcReduction="20000"/>
              </a:bodyPr>
              <a:lstStyle/>
              <a:p>
                <a:pPr fontAlgn="base"/>
                <a:r>
                  <a:rPr lang="en-US" sz="9600" b="1" dirty="0"/>
                  <a:t>Reverse Diffusion Process</a:t>
                </a:r>
              </a:p>
              <a:p>
                <a:pPr fontAlgn="base"/>
                <a:r>
                  <a:rPr lang="en-US" sz="9600" dirty="0"/>
                  <a:t>The reverse process aims to reconstruct the original data by denoising the noisy data in a series of steps, reversing the forward diffusion.</a:t>
                </a:r>
              </a:p>
              <a:p>
                <a:pPr fontAlgn="base"/>
                <a:r>
                  <a:rPr lang="en-IN" sz="9600" dirty="0"/>
                  <a:t>This is typically modelled using a neural network that predicts the noise added at each step:</a:t>
                </a:r>
              </a:p>
              <a:p>
                <a:pPr marL="0" indent="0" fontAlgn="base">
                  <a:buNone/>
                </a:pPr>
                <a14:m>
                  <m:oMathPara xmlns:m="http://schemas.openxmlformats.org/officeDocument/2006/math">
                    <m:oMathParaPr>
                      <m:jc m:val="centerGroup"/>
                    </m:oMathParaPr>
                    <m:oMath xmlns:m="http://schemas.openxmlformats.org/officeDocument/2006/math">
                      <m:sSub>
                        <m:sSubPr>
                          <m:ctrlPr>
                            <a:rPr lang="en-US" sz="9600" i="1" smtClean="0">
                              <a:latin typeface="Cambria Math" panose="02040503050406030204" pitchFamily="18" charset="0"/>
                            </a:rPr>
                          </m:ctrlPr>
                        </m:sSubPr>
                        <m:e>
                          <m:r>
                            <a:rPr lang="en-US" sz="9600" i="1">
                              <a:latin typeface="Cambria Math" panose="02040503050406030204" pitchFamily="18" charset="0"/>
                            </a:rPr>
                            <m:t>𝑝</m:t>
                          </m:r>
                        </m:e>
                        <m:sub>
                          <m:r>
                            <a:rPr lang="en-US" sz="9600" i="1">
                              <a:latin typeface="Cambria Math" panose="02040503050406030204" pitchFamily="18" charset="0"/>
                            </a:rPr>
                            <m:t>𝜃</m:t>
                          </m:r>
                        </m:sub>
                      </m:sSub>
                      <m:d>
                        <m:dPr>
                          <m:sepChr m:val="∣"/>
                          <m:ctrlPr>
                            <a:rPr lang="en-US" sz="9600" i="1">
                              <a:latin typeface="Cambria Math" panose="02040503050406030204" pitchFamily="18" charset="0"/>
                            </a:rPr>
                          </m:ctrlPr>
                        </m:dPr>
                        <m:e>
                          <m:sSub>
                            <m:sSubPr>
                              <m:ctrlPr>
                                <a:rPr lang="en-US" sz="9600" i="1">
                                  <a:latin typeface="Cambria Math" panose="02040503050406030204" pitchFamily="18" charset="0"/>
                                </a:rPr>
                              </m:ctrlPr>
                            </m:sSubPr>
                            <m:e>
                              <m:r>
                                <a:rPr lang="en-US" sz="9600" i="1">
                                  <a:latin typeface="Cambria Math" panose="02040503050406030204" pitchFamily="18" charset="0"/>
                                </a:rPr>
                                <m:t>𝑥</m:t>
                              </m:r>
                            </m:e>
                            <m:sub>
                              <m:r>
                                <a:rPr lang="en-US" sz="9600" i="1">
                                  <a:latin typeface="Cambria Math" panose="02040503050406030204" pitchFamily="18" charset="0"/>
                                </a:rPr>
                                <m:t>𝑡</m:t>
                              </m:r>
                              <m:r>
                                <a:rPr lang="en-US" sz="9600" i="1">
                                  <a:latin typeface="Cambria Math" panose="02040503050406030204" pitchFamily="18" charset="0"/>
                                </a:rPr>
                                <m:t>−1</m:t>
                              </m:r>
                            </m:sub>
                          </m:sSub>
                        </m:e>
                        <m:e>
                          <m:sSub>
                            <m:sSubPr>
                              <m:ctrlPr>
                                <a:rPr lang="en-US" sz="9600" i="1">
                                  <a:latin typeface="Cambria Math" panose="02040503050406030204" pitchFamily="18" charset="0"/>
                                </a:rPr>
                              </m:ctrlPr>
                            </m:sSubPr>
                            <m:e>
                              <m:r>
                                <a:rPr lang="en-US" sz="9600" i="1">
                                  <a:latin typeface="Cambria Math" panose="02040503050406030204" pitchFamily="18" charset="0"/>
                                </a:rPr>
                                <m:t>𝑥</m:t>
                              </m:r>
                            </m:e>
                            <m:sub>
                              <m:r>
                                <a:rPr lang="en-US" sz="9600" i="1">
                                  <a:latin typeface="Cambria Math" panose="02040503050406030204" pitchFamily="18" charset="0"/>
                                </a:rPr>
                                <m:t>𝑡</m:t>
                              </m:r>
                            </m:sub>
                          </m:sSub>
                        </m:e>
                      </m:d>
                      <m:r>
                        <a:rPr lang="en-US" sz="9600" i="1">
                          <a:latin typeface="Cambria Math" panose="02040503050406030204" pitchFamily="18" charset="0"/>
                        </a:rPr>
                        <m:t>=</m:t>
                      </m:r>
                      <m:r>
                        <a:rPr lang="en-US" sz="9600" i="1">
                          <a:latin typeface="Cambria Math" panose="02040503050406030204" pitchFamily="18" charset="0"/>
                        </a:rPr>
                        <m:t>𝒩</m:t>
                      </m:r>
                      <m:d>
                        <m:dPr>
                          <m:ctrlPr>
                            <a:rPr lang="en-US" sz="9600" i="1">
                              <a:latin typeface="Cambria Math" panose="02040503050406030204" pitchFamily="18" charset="0"/>
                            </a:rPr>
                          </m:ctrlPr>
                        </m:dPr>
                        <m:e>
                          <m:sSub>
                            <m:sSubPr>
                              <m:ctrlPr>
                                <a:rPr lang="en-US" sz="9600" i="1">
                                  <a:latin typeface="Cambria Math" panose="02040503050406030204" pitchFamily="18" charset="0"/>
                                </a:rPr>
                              </m:ctrlPr>
                            </m:sSubPr>
                            <m:e>
                              <m:r>
                                <a:rPr lang="en-US" sz="9600" i="1">
                                  <a:latin typeface="Cambria Math" panose="02040503050406030204" pitchFamily="18" charset="0"/>
                                </a:rPr>
                                <m:t>𝑥</m:t>
                              </m:r>
                            </m:e>
                            <m:sub>
                              <m:r>
                                <a:rPr lang="en-US" sz="9600" i="1">
                                  <a:latin typeface="Cambria Math" panose="02040503050406030204" pitchFamily="18" charset="0"/>
                                </a:rPr>
                                <m:t>𝑡</m:t>
                              </m:r>
                              <m:r>
                                <a:rPr lang="en-US" sz="9600" i="1">
                                  <a:latin typeface="Cambria Math" panose="02040503050406030204" pitchFamily="18" charset="0"/>
                                </a:rPr>
                                <m:t>−1</m:t>
                              </m:r>
                            </m:sub>
                          </m:sSub>
                          <m:r>
                            <a:rPr lang="en-US" sz="9600" i="1">
                              <a:latin typeface="Cambria Math" panose="02040503050406030204" pitchFamily="18" charset="0"/>
                            </a:rPr>
                            <m:t>;</m:t>
                          </m:r>
                          <m:sSub>
                            <m:sSubPr>
                              <m:ctrlPr>
                                <a:rPr lang="en-US" sz="9600" i="1" smtClean="0">
                                  <a:latin typeface="Cambria Math" panose="02040503050406030204" pitchFamily="18" charset="0"/>
                                </a:rPr>
                              </m:ctrlPr>
                            </m:sSubPr>
                            <m:e>
                              <m:r>
                                <a:rPr lang="en-US" sz="9600" i="1" smtClean="0">
                                  <a:latin typeface="Cambria Math" panose="02040503050406030204" pitchFamily="18" charset="0"/>
                                </a:rPr>
                                <m:t>𝜇</m:t>
                              </m:r>
                            </m:e>
                            <m:sub>
                              <m:r>
                                <a:rPr lang="en-US" sz="9600" i="1" smtClean="0">
                                  <a:latin typeface="Cambria Math" panose="02040503050406030204" pitchFamily="18" charset="0"/>
                                </a:rPr>
                                <m:t>𝜃</m:t>
                              </m:r>
                            </m:sub>
                          </m:sSub>
                          <m:d>
                            <m:dPr>
                              <m:ctrlPr>
                                <a:rPr lang="en-US" sz="9600" i="1" smtClean="0">
                                  <a:latin typeface="Cambria Math" panose="02040503050406030204" pitchFamily="18" charset="0"/>
                                </a:rPr>
                              </m:ctrlPr>
                            </m:dPr>
                            <m:e>
                              <m:sSub>
                                <m:sSubPr>
                                  <m:ctrlPr>
                                    <a:rPr lang="en-US" sz="9600" i="1" smtClean="0">
                                      <a:latin typeface="Cambria Math" panose="02040503050406030204" pitchFamily="18" charset="0"/>
                                    </a:rPr>
                                  </m:ctrlPr>
                                </m:sSubPr>
                                <m:e>
                                  <m:r>
                                    <a:rPr lang="en-US" sz="9600" i="1" smtClean="0">
                                      <a:latin typeface="Cambria Math" panose="02040503050406030204" pitchFamily="18" charset="0"/>
                                    </a:rPr>
                                    <m:t>𝑥</m:t>
                                  </m:r>
                                </m:e>
                                <m:sub>
                                  <m:r>
                                    <a:rPr lang="en-US" sz="9600" i="1" smtClean="0">
                                      <a:latin typeface="Cambria Math" panose="02040503050406030204" pitchFamily="18" charset="0"/>
                                    </a:rPr>
                                    <m:t>𝑡</m:t>
                                  </m:r>
                                </m:sub>
                              </m:sSub>
                              <m:r>
                                <a:rPr lang="en-US" sz="9600" i="1" smtClean="0">
                                  <a:latin typeface="Cambria Math" panose="02040503050406030204" pitchFamily="18" charset="0"/>
                                </a:rPr>
                                <m:t>,</m:t>
                              </m:r>
                              <m:r>
                                <a:rPr lang="en-US" sz="9600" i="1" smtClean="0">
                                  <a:latin typeface="Cambria Math" panose="02040503050406030204" pitchFamily="18" charset="0"/>
                                </a:rPr>
                                <m:t>𝑡</m:t>
                              </m:r>
                            </m:e>
                          </m:d>
                          <m:r>
                            <a:rPr lang="en-US" sz="9600" i="1" smtClean="0">
                              <a:latin typeface="Cambria Math" panose="02040503050406030204" pitchFamily="18" charset="0"/>
                            </a:rPr>
                            <m:t>,</m:t>
                          </m:r>
                          <m:sSub>
                            <m:sSubPr>
                              <m:ctrlPr>
                                <a:rPr lang="en-US" sz="9600" i="1" smtClean="0">
                                  <a:latin typeface="Cambria Math" panose="02040503050406030204" pitchFamily="18" charset="0"/>
                                </a:rPr>
                              </m:ctrlPr>
                            </m:sSubPr>
                            <m:e>
                              <m:r>
                                <a:rPr lang="en-US" sz="9600" i="1" smtClean="0">
                                  <a:latin typeface="Cambria Math" panose="02040503050406030204" pitchFamily="18" charset="0"/>
                                </a:rPr>
                                <m:t>𝜎</m:t>
                              </m:r>
                            </m:e>
                            <m:sub>
                              <m:r>
                                <a:rPr lang="en-US" sz="9600" i="1" smtClean="0">
                                  <a:latin typeface="Cambria Math" panose="02040503050406030204" pitchFamily="18" charset="0"/>
                                </a:rPr>
                                <m:t>𝜃</m:t>
                              </m:r>
                            </m:sub>
                          </m:sSub>
                          <m:d>
                            <m:dPr>
                              <m:ctrlPr>
                                <a:rPr lang="en-US" sz="9600" i="1" smtClean="0">
                                  <a:latin typeface="Cambria Math" panose="02040503050406030204" pitchFamily="18" charset="0"/>
                                </a:rPr>
                              </m:ctrlPr>
                            </m:dPr>
                            <m:e>
                              <m:sSub>
                                <m:sSubPr>
                                  <m:ctrlPr>
                                    <a:rPr lang="en-US" sz="9600" i="1" smtClean="0">
                                      <a:latin typeface="Cambria Math" panose="02040503050406030204" pitchFamily="18" charset="0"/>
                                    </a:rPr>
                                  </m:ctrlPr>
                                </m:sSubPr>
                                <m:e>
                                  <m:r>
                                    <a:rPr lang="en-US" sz="9600" i="1" smtClean="0">
                                      <a:latin typeface="Cambria Math" panose="02040503050406030204" pitchFamily="18" charset="0"/>
                                    </a:rPr>
                                    <m:t>𝑥</m:t>
                                  </m:r>
                                </m:e>
                                <m:sub>
                                  <m:r>
                                    <a:rPr lang="en-US" sz="9600" i="1" smtClean="0">
                                      <a:latin typeface="Cambria Math" panose="02040503050406030204" pitchFamily="18" charset="0"/>
                                    </a:rPr>
                                    <m:t>𝑡</m:t>
                                  </m:r>
                                </m:sub>
                              </m:sSub>
                              <m:r>
                                <a:rPr lang="en-US" sz="9600" i="1" smtClean="0">
                                  <a:latin typeface="Cambria Math" panose="02040503050406030204" pitchFamily="18" charset="0"/>
                                </a:rPr>
                                <m:t>,</m:t>
                              </m:r>
                              <m:r>
                                <a:rPr lang="en-US" sz="9600" i="1" smtClean="0">
                                  <a:latin typeface="Cambria Math" panose="02040503050406030204" pitchFamily="18" charset="0"/>
                                </a:rPr>
                                <m:t>𝑡</m:t>
                              </m:r>
                            </m:e>
                          </m:d>
                        </m:e>
                      </m:d>
                    </m:oMath>
                  </m:oMathPara>
                </a14:m>
                <a:endParaRPr lang="en-IN" sz="9600" dirty="0"/>
              </a:p>
              <a:p>
                <a:pPr marL="0" indent="0" fontAlgn="base">
                  <a:buNone/>
                </a:pPr>
                <a:endParaRPr lang="en-US" sz="9600" dirty="0"/>
              </a:p>
              <a:p>
                <a:pPr marL="0" indent="0" fontAlgn="base">
                  <a:buNone/>
                </a:pPr>
                <a:r>
                  <a:rPr lang="en-US" sz="9600" dirty="0"/>
                  <a:t>where,</a:t>
                </a:r>
              </a:p>
              <a:p>
                <a:pPr marL="0" indent="0" fontAlgn="base">
                  <a:buNone/>
                </a:pPr>
                <a:r>
                  <a:rPr lang="en-US" sz="9600" dirty="0"/>
                  <a:t> </a:t>
                </a:r>
                <a14:m>
                  <m:oMath xmlns:m="http://schemas.openxmlformats.org/officeDocument/2006/math">
                    <m:sSub>
                      <m:sSubPr>
                        <m:ctrlPr>
                          <a:rPr lang="en-US" sz="9600" i="1" smtClean="0">
                            <a:latin typeface="Cambria Math" panose="02040503050406030204" pitchFamily="18" charset="0"/>
                          </a:rPr>
                        </m:ctrlPr>
                      </m:sSubPr>
                      <m:e>
                        <m:r>
                          <a:rPr lang="en-US" sz="9600" i="1" smtClean="0">
                            <a:latin typeface="Cambria Math" panose="02040503050406030204" pitchFamily="18" charset="0"/>
                            <a:ea typeface="Cambria Math" panose="02040503050406030204" pitchFamily="18" charset="0"/>
                          </a:rPr>
                          <m:t>𝜇</m:t>
                        </m:r>
                      </m:e>
                      <m:sub>
                        <m:r>
                          <a:rPr lang="en-US" sz="9600" i="1" smtClean="0">
                            <a:latin typeface="Cambria Math" panose="02040503050406030204" pitchFamily="18" charset="0"/>
                            <a:ea typeface="Cambria Math" panose="02040503050406030204" pitchFamily="18" charset="0"/>
                          </a:rPr>
                          <m:t>𝜃</m:t>
                        </m:r>
                      </m:sub>
                    </m:sSub>
                    <m:r>
                      <m:rPr>
                        <m:nor/>
                      </m:rPr>
                      <a:rPr lang="en-IN" sz="9600"/>
                      <m:t>and</m:t>
                    </m:r>
                    <m:r>
                      <m:rPr>
                        <m:nor/>
                      </m:rPr>
                      <a:rPr lang="en-IN" sz="9600"/>
                      <m:t> </m:t>
                    </m:r>
                    <m:sSub>
                      <m:sSubPr>
                        <m:ctrlPr>
                          <a:rPr lang="ar-AE" sz="9600" i="1">
                            <a:latin typeface="Cambria Math" panose="02040503050406030204" pitchFamily="18" charset="0"/>
                          </a:rPr>
                        </m:ctrlPr>
                      </m:sSubPr>
                      <m:e>
                        <m:r>
                          <a:rPr lang="ar-AE" sz="9600" i="1">
                            <a:latin typeface="Cambria Math" panose="02040503050406030204" pitchFamily="18" charset="0"/>
                          </a:rPr>
                          <m:t>𝜎</m:t>
                        </m:r>
                      </m:e>
                      <m:sub>
                        <m:r>
                          <a:rPr lang="ar-AE" sz="9600" i="1">
                            <a:latin typeface="Cambria Math" panose="02040503050406030204" pitchFamily="18" charset="0"/>
                          </a:rPr>
                          <m:t>𝜃</m:t>
                        </m:r>
                      </m:sub>
                    </m:sSub>
                  </m:oMath>
                </a14:m>
                <a:r>
                  <a:rPr lang="en-IN" sz="9600" dirty="0"/>
                  <a:t>  are learned parameters.</a:t>
                </a:r>
                <a:br>
                  <a:rPr lang="ar-AE" sz="9600" dirty="0"/>
                </a:br>
                <a:endParaRPr lang="el-GR" sz="9600" dirty="0"/>
              </a:p>
              <a:p>
                <a:pPr marL="0" indent="0" fontAlgn="base">
                  <a:buNone/>
                </a:pPr>
                <a:r>
                  <a:rPr lang="el-GR" sz="9600" dirty="0"/>
                  <a:t>​</a:t>
                </a:r>
                <a:endParaRPr lang="en-US" sz="9600" dirty="0"/>
              </a:p>
              <a:p>
                <a:pPr marL="0" indent="0" fontAlgn="base">
                  <a:buNone/>
                </a:pPr>
                <a:endParaRPr lang="en-US" dirty="0"/>
              </a:p>
              <a:p>
                <a:pPr marL="0" indent="0">
                  <a:buNone/>
                </a:pPr>
                <a:br>
                  <a:rPr lang="en-US" dirty="0"/>
                </a:br>
                <a:endParaRPr lang="en-IN" dirty="0"/>
              </a:p>
            </p:txBody>
          </p:sp>
        </mc:Choice>
        <mc:Fallback xmlns="">
          <p:sp>
            <p:nvSpPr>
              <p:cNvPr id="3" name="Content Placeholder 2">
                <a:extLst>
                  <a:ext uri="{FF2B5EF4-FFF2-40B4-BE49-F238E27FC236}">
                    <a16:creationId xmlns:a16="http://schemas.microsoft.com/office/drawing/2014/main" id="{E8ECEA60-958F-D0E2-AAA0-2155C8F4E0BB}"/>
                  </a:ext>
                </a:extLst>
              </p:cNvPr>
              <p:cNvSpPr>
                <a:spLocks noGrp="1" noRot="1" noChangeAspect="1" noMove="1" noResize="1" noEditPoints="1" noAdjustHandles="1" noChangeArrowheads="1" noChangeShapeType="1" noTextEdit="1"/>
              </p:cNvSpPr>
              <p:nvPr>
                <p:ph idx="1"/>
              </p:nvPr>
            </p:nvSpPr>
            <p:spPr>
              <a:xfrm>
                <a:off x="651932" y="2015067"/>
                <a:ext cx="10503747" cy="3854027"/>
              </a:xfrm>
              <a:blipFill>
                <a:blip r:embed="rId3"/>
                <a:stretch>
                  <a:fillRect l="-1799" t="-3639" b="-11709"/>
                </a:stretch>
              </a:blipFill>
            </p:spPr>
            <p:txBody>
              <a:bodyPr/>
              <a:lstStyle/>
              <a:p>
                <a:r>
                  <a:rPr lang="en-IN">
                    <a:noFill/>
                  </a:rPr>
                  <a:t> </a:t>
                </a:r>
              </a:p>
            </p:txBody>
          </p:sp>
        </mc:Fallback>
      </mc:AlternateContent>
    </p:spTree>
    <p:extLst>
      <p:ext uri="{BB962C8B-B14F-4D97-AF65-F5344CB8AC3E}">
        <p14:creationId xmlns:p14="http://schemas.microsoft.com/office/powerpoint/2010/main" val="481077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FC8FC8-22AA-39AB-D77C-223F2602B261}"/>
              </a:ext>
            </a:extLst>
          </p:cNvPr>
          <p:cNvPicPr>
            <a:picLocks noChangeAspect="1"/>
          </p:cNvPicPr>
          <p:nvPr/>
        </p:nvPicPr>
        <p:blipFill>
          <a:blip r:embed="rId2"/>
          <a:stretch>
            <a:fillRect/>
          </a:stretch>
        </p:blipFill>
        <p:spPr>
          <a:xfrm>
            <a:off x="318472" y="1048806"/>
            <a:ext cx="11522331" cy="1575861"/>
          </a:xfrm>
          <a:prstGeom prst="rect">
            <a:avLst/>
          </a:prstGeom>
        </p:spPr>
      </p:pic>
      <p:pic>
        <p:nvPicPr>
          <p:cNvPr id="4" name="Picture 3">
            <a:extLst>
              <a:ext uri="{FF2B5EF4-FFF2-40B4-BE49-F238E27FC236}">
                <a16:creationId xmlns:a16="http://schemas.microsoft.com/office/drawing/2014/main" id="{3E684B88-D1E8-8957-5A20-BC9BA554DA53}"/>
              </a:ext>
            </a:extLst>
          </p:cNvPr>
          <p:cNvPicPr>
            <a:picLocks noChangeAspect="1"/>
          </p:cNvPicPr>
          <p:nvPr/>
        </p:nvPicPr>
        <p:blipFill>
          <a:blip r:embed="rId3"/>
          <a:stretch>
            <a:fillRect/>
          </a:stretch>
        </p:blipFill>
        <p:spPr>
          <a:xfrm>
            <a:off x="318472" y="3695577"/>
            <a:ext cx="11838872" cy="1943223"/>
          </a:xfrm>
          <a:prstGeom prst="rect">
            <a:avLst/>
          </a:prstGeom>
        </p:spPr>
      </p:pic>
      <p:sp>
        <p:nvSpPr>
          <p:cNvPr id="5" name="TextBox 4">
            <a:extLst>
              <a:ext uri="{FF2B5EF4-FFF2-40B4-BE49-F238E27FC236}">
                <a16:creationId xmlns:a16="http://schemas.microsoft.com/office/drawing/2014/main" id="{3A829540-BD07-66BD-B732-5C911605049D}"/>
              </a:ext>
            </a:extLst>
          </p:cNvPr>
          <p:cNvSpPr txBox="1"/>
          <p:nvPr/>
        </p:nvSpPr>
        <p:spPr>
          <a:xfrm>
            <a:off x="4927600" y="2687589"/>
            <a:ext cx="6096000" cy="369332"/>
          </a:xfrm>
          <a:prstGeom prst="rect">
            <a:avLst/>
          </a:prstGeom>
          <a:noFill/>
        </p:spPr>
        <p:txBody>
          <a:bodyPr wrap="square">
            <a:spAutoFit/>
          </a:bodyPr>
          <a:lstStyle/>
          <a:p>
            <a:r>
              <a:rPr lang="en-IN" dirty="0"/>
              <a:t>Forward Diffusion </a:t>
            </a:r>
          </a:p>
        </p:txBody>
      </p:sp>
      <p:sp>
        <p:nvSpPr>
          <p:cNvPr id="7" name="TextBox 6">
            <a:extLst>
              <a:ext uri="{FF2B5EF4-FFF2-40B4-BE49-F238E27FC236}">
                <a16:creationId xmlns:a16="http://schemas.microsoft.com/office/drawing/2014/main" id="{62527749-D085-5EEE-AA1B-57337B0972FA}"/>
              </a:ext>
            </a:extLst>
          </p:cNvPr>
          <p:cNvSpPr txBox="1"/>
          <p:nvPr/>
        </p:nvSpPr>
        <p:spPr>
          <a:xfrm>
            <a:off x="4927600" y="5809194"/>
            <a:ext cx="6096000" cy="369332"/>
          </a:xfrm>
          <a:prstGeom prst="rect">
            <a:avLst/>
          </a:prstGeom>
          <a:noFill/>
        </p:spPr>
        <p:txBody>
          <a:bodyPr wrap="square">
            <a:spAutoFit/>
          </a:bodyPr>
          <a:lstStyle/>
          <a:p>
            <a:r>
              <a:rPr lang="en-IN" dirty="0"/>
              <a:t>Reverse Diffusion </a:t>
            </a:r>
          </a:p>
        </p:txBody>
      </p:sp>
    </p:spTree>
    <p:extLst>
      <p:ext uri="{BB962C8B-B14F-4D97-AF65-F5344CB8AC3E}">
        <p14:creationId xmlns:p14="http://schemas.microsoft.com/office/powerpoint/2010/main" val="86499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9970D-1EE5-ACC5-DF75-83A9138D19E5}"/>
              </a:ext>
            </a:extLst>
          </p:cNvPr>
          <p:cNvSpPr>
            <a:spLocks noGrp="1"/>
          </p:cNvSpPr>
          <p:nvPr>
            <p:ph type="title"/>
          </p:nvPr>
        </p:nvSpPr>
        <p:spPr>
          <a:xfrm>
            <a:off x="1097280" y="286603"/>
            <a:ext cx="10058400" cy="1990930"/>
          </a:xfrm>
        </p:spPr>
        <p:txBody>
          <a:bodyPr>
            <a:normAutofit fontScale="90000"/>
          </a:bodyPr>
          <a:lstStyle/>
          <a:p>
            <a:pPr algn="ctr"/>
            <a:br>
              <a:rPr lang="en-IN" dirty="0"/>
            </a:br>
            <a:br>
              <a:rPr lang="en-IN" dirty="0"/>
            </a:br>
            <a:br>
              <a:rPr lang="en-IN" dirty="0"/>
            </a:br>
            <a:br>
              <a:rPr lang="en-IN" dirty="0"/>
            </a:br>
            <a:br>
              <a:rPr lang="en-IN" dirty="0"/>
            </a:br>
            <a:br>
              <a:rPr lang="en-IN" dirty="0"/>
            </a:br>
            <a:br>
              <a:rPr lang="en-IN" dirty="0"/>
            </a:br>
            <a:r>
              <a:rPr lang="en-IN" dirty="0"/>
              <a:t>Stable Diffusion</a:t>
            </a:r>
            <a:br>
              <a:rPr lang="en-IN"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2420F5-B4B7-BCF5-F970-9197F5531A23}"/>
                  </a:ext>
                </a:extLst>
              </p:cNvPr>
              <p:cNvSpPr>
                <a:spLocks noGrp="1"/>
              </p:cNvSpPr>
              <p:nvPr>
                <p:ph idx="1"/>
              </p:nvPr>
            </p:nvSpPr>
            <p:spPr/>
            <p:txBody>
              <a:bodyPr>
                <a:normAutofit/>
              </a:bodyPr>
              <a:lstStyle/>
              <a:p>
                <a:r>
                  <a:rPr lang="en-US" dirty="0"/>
                  <a:t>Stable Diffusion is mainly based on the method of Latent Diffusion Models. It primarily consists of three core parts: perceptual image compression, latent diffusion, and conditional mechanism. Perceptual image compression involves encoding an RGB image x into a latent representation</a:t>
                </a:r>
              </a:p>
              <a:p>
                <a14:m>
                  <m:oMath xmlns:m="http://schemas.openxmlformats.org/officeDocument/2006/math">
                    <m:r>
                      <a:rPr lang="en-IN" i="1" smtClean="0">
                        <a:latin typeface="Cambria Math" panose="02040503050406030204" pitchFamily="18" charset="0"/>
                      </a:rPr>
                      <m:t>𝑧</m:t>
                    </m:r>
                    <m:r>
                      <a:rPr lang="en-IN" i="1" smtClean="0">
                        <a:latin typeface="Cambria Math" panose="02040503050406030204" pitchFamily="18" charset="0"/>
                      </a:rPr>
                      <m:t>=</m:t>
                    </m:r>
                    <m:r>
                      <a:rPr lang="en-IN" i="1" smtClean="0">
                        <a:latin typeface="Cambria Math" panose="02040503050406030204" pitchFamily="18" charset="0"/>
                      </a:rPr>
                      <m:t>𝜖</m:t>
                    </m:r>
                    <m:d>
                      <m:dPr>
                        <m:ctrlPr>
                          <a:rPr lang="en-IN" i="1">
                            <a:latin typeface="Cambria Math" panose="02040503050406030204" pitchFamily="18" charset="0"/>
                          </a:rPr>
                        </m:ctrlPr>
                      </m:dPr>
                      <m:e>
                        <m:r>
                          <a:rPr lang="en-IN" i="1">
                            <a:latin typeface="Cambria Math" panose="02040503050406030204" pitchFamily="18" charset="0"/>
                          </a:rPr>
                          <m:t>𝑥</m:t>
                        </m:r>
                      </m:e>
                    </m:d>
                    <m:r>
                      <a:rPr lang="en-IN" i="1">
                        <a:latin typeface="Cambria Math" panose="02040503050406030204" pitchFamily="18" charset="0"/>
                      </a:rPr>
                      <m:t>, </m:t>
                    </m:r>
                    <m:r>
                      <a:rPr lang="en-IN" i="1">
                        <a:latin typeface="Cambria Math" panose="02040503050406030204" pitchFamily="18" charset="0"/>
                      </a:rPr>
                      <m:t>𝑧</m:t>
                    </m:r>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h</m:t>
                        </m:r>
                        <m:r>
                          <a:rPr lang="en-IN" i="1">
                            <a:latin typeface="Cambria Math" panose="02040503050406030204" pitchFamily="18" charset="0"/>
                          </a:rPr>
                          <m:t>×</m:t>
                        </m:r>
                        <m:r>
                          <a:rPr lang="en-IN" i="1">
                            <a:latin typeface="Cambria Math" panose="02040503050406030204" pitchFamily="18" charset="0"/>
                          </a:rPr>
                          <m:t>𝑤</m:t>
                        </m:r>
                        <m:r>
                          <a:rPr lang="en-IN" i="1">
                            <a:latin typeface="Cambria Math" panose="02040503050406030204" pitchFamily="18" charset="0"/>
                          </a:rPr>
                          <m:t>×</m:t>
                        </m:r>
                        <m:r>
                          <a:rPr lang="en-IN" i="1">
                            <a:latin typeface="Cambria Math" panose="02040503050406030204" pitchFamily="18" charset="0"/>
                          </a:rPr>
                          <m:t>𝑐</m:t>
                        </m:r>
                      </m:sup>
                    </m:sSup>
                  </m:oMath>
                </a14:m>
                <a:endParaRPr lang="en-US" dirty="0"/>
              </a:p>
              <a:p>
                <a:r>
                  <a:rPr lang="en-IN" dirty="0"/>
                  <a:t>by an autoencoder </a:t>
                </a:r>
                <a14:m>
                  <m:oMath xmlns:m="http://schemas.openxmlformats.org/officeDocument/2006/math">
                    <m:r>
                      <a:rPr lang="en-IN" i="1" smtClean="0">
                        <a:latin typeface="Cambria Math" panose="02040503050406030204" pitchFamily="18" charset="0"/>
                        <a:ea typeface="Cambria Math" panose="02040503050406030204" pitchFamily="18" charset="0"/>
                      </a:rPr>
                      <m:t>𝜀</m:t>
                    </m:r>
                  </m:oMath>
                </a14:m>
                <a:r>
                  <a:rPr lang="en-US" dirty="0"/>
                  <a:t> , decoding the latent into an RGB image  </a:t>
                </a:r>
                <a14:m>
                  <m:oMath xmlns:m="http://schemas.openxmlformats.org/officeDocument/2006/math">
                    <m:acc>
                      <m:accPr>
                        <m:chr m:val="̃"/>
                        <m:ctrlPr>
                          <a:rPr lang="en-US" i="1" dirty="0" smtClean="0">
                            <a:latin typeface="Cambria Math" panose="02040503050406030204" pitchFamily="18" charset="0"/>
                          </a:rPr>
                        </m:ctrlPr>
                      </m:accPr>
                      <m:e>
                        <m:r>
                          <a:rPr lang="en-IN" b="0" i="1" dirty="0" smtClean="0">
                            <a:latin typeface="Cambria Math" panose="02040503050406030204" pitchFamily="18" charset="0"/>
                          </a:rPr>
                          <m:t> </m:t>
                        </m:r>
                        <m:r>
                          <a:rPr lang="en-US" i="1" dirty="0" smtClean="0">
                            <a:latin typeface="Cambria Math" panose="02040503050406030204" pitchFamily="18" charset="0"/>
                          </a:rPr>
                          <m:t>𝑥</m:t>
                        </m:r>
                      </m:e>
                    </m:acc>
                    <m:r>
                      <a:rPr lang="en-US" i="1" dirty="0" smtClean="0">
                        <a:latin typeface="Cambria Math" panose="02040503050406030204" pitchFamily="18" charset="0"/>
                      </a:rPr>
                      <m:t>=</m:t>
                    </m:r>
                    <m:r>
                      <a:rPr lang="en-US" i="1" dirty="0">
                        <a:latin typeface="Cambria Math" panose="02040503050406030204" pitchFamily="18" charset="0"/>
                      </a:rPr>
                      <m:t>𝒟</m:t>
                    </m:r>
                    <m:d>
                      <m:dPr>
                        <m:ctrlPr>
                          <a:rPr lang="en-US" i="1" dirty="0">
                            <a:latin typeface="Cambria Math" panose="02040503050406030204" pitchFamily="18" charset="0"/>
                          </a:rPr>
                        </m:ctrlPr>
                      </m:dPr>
                      <m:e>
                        <m:r>
                          <a:rPr lang="en-US" i="1" dirty="0">
                            <a:latin typeface="Cambria Math" panose="02040503050406030204" pitchFamily="18" charset="0"/>
                          </a:rPr>
                          <m:t>𝑧</m:t>
                        </m:r>
                      </m:e>
                    </m:d>
                    <m:r>
                      <m:rPr>
                        <m:nor/>
                      </m:rPr>
                      <a:rPr lang="en-IN" b="0" i="0" dirty="0" smtClean="0">
                        <a:latin typeface="Cambria Math" panose="02040503050406030204" pitchFamily="18" charset="0"/>
                      </a:rPr>
                      <m:t> </m:t>
                    </m:r>
                    <m:r>
                      <m:rPr>
                        <m:nor/>
                      </m:rPr>
                      <a:rPr lang="en-IN"/>
                      <m:t>by</m:t>
                    </m:r>
                    <m:r>
                      <m:rPr>
                        <m:nor/>
                      </m:rPr>
                      <a:rPr lang="en-IN"/>
                      <m:t> </m:t>
                    </m:r>
                    <m:r>
                      <m:rPr>
                        <m:nor/>
                      </m:rPr>
                      <a:rPr lang="en-IN"/>
                      <m:t>a</m:t>
                    </m:r>
                    <m:r>
                      <m:rPr>
                        <m:nor/>
                      </m:rPr>
                      <a:rPr lang="en-IN"/>
                      <m:t> </m:t>
                    </m:r>
                    <m:r>
                      <m:rPr>
                        <m:nor/>
                      </m:rPr>
                      <a:rPr lang="en-IN"/>
                      <m:t>decoder</m:t>
                    </m:r>
                    <m:r>
                      <m:rPr>
                        <m:nor/>
                      </m:rPr>
                      <a:rPr lang="en-IN"/>
                      <m:t>.</m:t>
                    </m:r>
                  </m:oMath>
                </a14:m>
                <a:endParaRPr lang="en-US" dirty="0"/>
              </a:p>
              <a:p>
                <a:r>
                  <a:rPr lang="en-US" dirty="0"/>
                  <a:t>The conditional mechanism mainly controls the generation process through text, semantic or other image-to-image conversion tasks, and introduces the control condition y into the U-Net cross-attention mechanism of the latent diffusion process to achieve conditional control. </a:t>
                </a:r>
              </a:p>
              <a:p>
                <a:r>
                  <a:rPr lang="en-US" dirty="0"/>
                  <a:t>Latent diffusion, as the core part, mainly realizes the add noise and denoising process of the diffusion model, and the U-Net module of denoising process is the core of denoising.</a:t>
                </a:r>
              </a:p>
            </p:txBody>
          </p:sp>
        </mc:Choice>
        <mc:Fallback xmlns="">
          <p:sp>
            <p:nvSpPr>
              <p:cNvPr id="3" name="Content Placeholder 2">
                <a:extLst>
                  <a:ext uri="{FF2B5EF4-FFF2-40B4-BE49-F238E27FC236}">
                    <a16:creationId xmlns:a16="http://schemas.microsoft.com/office/drawing/2014/main" id="{FF2420F5-B4B7-BCF5-F970-9197F5531A23}"/>
                  </a:ext>
                </a:extLst>
              </p:cNvPr>
              <p:cNvSpPr>
                <a:spLocks noGrp="1" noRot="1" noChangeAspect="1" noMove="1" noResize="1" noEditPoints="1" noAdjustHandles="1" noChangeArrowheads="1" noChangeShapeType="1" noTextEdit="1"/>
              </p:cNvSpPr>
              <p:nvPr>
                <p:ph idx="1"/>
              </p:nvPr>
            </p:nvSpPr>
            <p:spPr>
              <a:blipFill>
                <a:blip r:embed="rId2"/>
                <a:stretch>
                  <a:fillRect l="-1515" t="-1667" r="-1818"/>
                </a:stretch>
              </a:blipFill>
            </p:spPr>
            <p:txBody>
              <a:bodyPr/>
              <a:lstStyle/>
              <a:p>
                <a:r>
                  <a:rPr lang="en-IN">
                    <a:noFill/>
                  </a:rPr>
                  <a:t> </a:t>
                </a:r>
              </a:p>
            </p:txBody>
          </p:sp>
        </mc:Fallback>
      </mc:AlternateContent>
    </p:spTree>
    <p:extLst>
      <p:ext uri="{BB962C8B-B14F-4D97-AF65-F5344CB8AC3E}">
        <p14:creationId xmlns:p14="http://schemas.microsoft.com/office/powerpoint/2010/main" val="2165808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8A9A-C0C0-1025-B54F-461BD303E543}"/>
              </a:ext>
            </a:extLst>
          </p:cNvPr>
          <p:cNvSpPr>
            <a:spLocks noGrp="1"/>
          </p:cNvSpPr>
          <p:nvPr>
            <p:ph type="title"/>
          </p:nvPr>
        </p:nvSpPr>
        <p:spPr/>
        <p:txBody>
          <a:bodyPr/>
          <a:lstStyle/>
          <a:p>
            <a:pPr algn="ctr"/>
            <a:r>
              <a:rPr lang="en-IN" dirty="0"/>
              <a:t>U – Net </a:t>
            </a:r>
          </a:p>
        </p:txBody>
      </p:sp>
      <p:sp>
        <p:nvSpPr>
          <p:cNvPr id="3" name="Content Placeholder 2">
            <a:extLst>
              <a:ext uri="{FF2B5EF4-FFF2-40B4-BE49-F238E27FC236}">
                <a16:creationId xmlns:a16="http://schemas.microsoft.com/office/drawing/2014/main" id="{C8512199-0901-4E57-75ED-CC9D448E0761}"/>
              </a:ext>
            </a:extLst>
          </p:cNvPr>
          <p:cNvSpPr>
            <a:spLocks noGrp="1"/>
          </p:cNvSpPr>
          <p:nvPr>
            <p:ph idx="1"/>
          </p:nvPr>
        </p:nvSpPr>
        <p:spPr/>
        <p:txBody>
          <a:bodyPr/>
          <a:lstStyle/>
          <a:p>
            <a:pPr>
              <a:buFont typeface="Arial" panose="020B0604020202020204" pitchFamily="34" charset="0"/>
              <a:buChar char="•"/>
            </a:pPr>
            <a:r>
              <a:rPr lang="en-US" dirty="0"/>
              <a:t>U‑Net is a convolutional neural network with a distinctive U‑shaped design that first compresses an image into abstract features and then reconstructs it back to full resolution. </a:t>
            </a:r>
          </a:p>
          <a:p>
            <a:pPr>
              <a:buFont typeface="Arial" panose="020B0604020202020204" pitchFamily="34" charset="0"/>
              <a:buChar char="•"/>
            </a:pPr>
            <a:r>
              <a:rPr lang="en-US" dirty="0"/>
              <a:t>It combines encoder layers that capture high‑level semantics with decoder layers that restore spatial detail, while skip connections directly transfer fine information like edges and textures between the two paths.</a:t>
            </a:r>
          </a:p>
          <a:p>
            <a:pPr>
              <a:buFont typeface="Arial" panose="020B0604020202020204" pitchFamily="34" charset="0"/>
              <a:buChar char="•"/>
            </a:pPr>
            <a:r>
              <a:rPr lang="en-US" dirty="0"/>
              <a:t> In diffusion models, U‑Net is the core denoising engine: it takes noisy latent features and iteratively refines them into clean, coherent images. </a:t>
            </a:r>
          </a:p>
          <a:p>
            <a:pPr>
              <a:buFont typeface="Arial" panose="020B0604020202020204" pitchFamily="34" charset="0"/>
              <a:buChar char="•"/>
            </a:pPr>
            <a:r>
              <a:rPr lang="en-US" dirty="0"/>
              <a:t>The backbone branch emphasizes semantic alignment with prompts, while the skip branch preserves color, texture, and detail. </a:t>
            </a:r>
          </a:p>
          <a:p>
            <a:pPr>
              <a:buFont typeface="Arial" panose="020B0604020202020204" pitchFamily="34" charset="0"/>
              <a:buChar char="•"/>
            </a:pPr>
            <a:r>
              <a:rPr lang="en-US" dirty="0"/>
              <a:t>This balance makes U‑Net crucial for generating high‑quality text‑to‑image and text‑to‑video outputs, ensuring both meaning and visual fidelity</a:t>
            </a:r>
            <a:endParaRPr lang="en-IN" dirty="0"/>
          </a:p>
        </p:txBody>
      </p:sp>
    </p:spTree>
    <p:extLst>
      <p:ext uri="{BB962C8B-B14F-4D97-AF65-F5344CB8AC3E}">
        <p14:creationId xmlns:p14="http://schemas.microsoft.com/office/powerpoint/2010/main" val="1175650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12F21-06D1-DFD4-2F6B-9BE2B5EDC0F9}"/>
              </a:ext>
            </a:extLst>
          </p:cNvPr>
          <p:cNvSpPr>
            <a:spLocks noGrp="1"/>
          </p:cNvSpPr>
          <p:nvPr>
            <p:ph type="title"/>
          </p:nvPr>
        </p:nvSpPr>
        <p:spPr/>
        <p:txBody>
          <a:bodyPr/>
          <a:lstStyle/>
          <a:p>
            <a:pPr algn="ctr"/>
            <a:r>
              <a:rPr lang="en-IN" dirty="0"/>
              <a:t>U-Net structure in diffusion model</a:t>
            </a:r>
          </a:p>
        </p:txBody>
      </p:sp>
      <p:sp>
        <p:nvSpPr>
          <p:cNvPr id="3" name="Content Placeholder 2">
            <a:extLst>
              <a:ext uri="{FF2B5EF4-FFF2-40B4-BE49-F238E27FC236}">
                <a16:creationId xmlns:a16="http://schemas.microsoft.com/office/drawing/2014/main" id="{781620C1-A5AE-7305-F145-3FC5101541DB}"/>
              </a:ext>
            </a:extLst>
          </p:cNvPr>
          <p:cNvSpPr>
            <a:spLocks noGrp="1"/>
          </p:cNvSpPr>
          <p:nvPr>
            <p:ph idx="1"/>
          </p:nvPr>
        </p:nvSpPr>
        <p:spPr/>
        <p:txBody>
          <a:bodyPr/>
          <a:lstStyle/>
          <a:p>
            <a:pPr>
              <a:buFont typeface="Arial" panose="020B0604020202020204" pitchFamily="34" charset="0"/>
              <a:buChar char="•"/>
            </a:pPr>
            <a:r>
              <a:rPr lang="en-US" dirty="0"/>
              <a:t> The U-Net neural network structure is mainly used for medical image segmentation. The simple, efficient and stable network structure is not only widely used in the field of image segmentation, but also applicable to image denoising. </a:t>
            </a:r>
          </a:p>
          <a:p>
            <a:pPr>
              <a:buFont typeface="Arial" panose="020B0604020202020204" pitchFamily="34" charset="0"/>
              <a:buChar char="•"/>
            </a:pPr>
            <a:r>
              <a:rPr lang="en-US" dirty="0"/>
              <a:t>In the structure of the diffusion model, U-Net is the core module, which mainly performs iterative denoising of the Gaussian noise matrix in the diffusion cycle.</a:t>
            </a:r>
          </a:p>
          <a:p>
            <a:pPr>
              <a:buFont typeface="Arial" panose="020B0604020202020204" pitchFamily="34" charset="0"/>
              <a:buChar char="•"/>
            </a:pPr>
            <a:r>
              <a:rPr lang="en-US" dirty="0"/>
              <a:t> In the diffusion denoising process, text and timesteps guide each noise prediction. After iterative denoising, the random Gaussian noise matrix is finally transformed into the latent feature of the image. </a:t>
            </a:r>
          </a:p>
          <a:p>
            <a:pPr>
              <a:buFont typeface="Arial" panose="020B0604020202020204" pitchFamily="34" charset="0"/>
              <a:buChar char="•"/>
            </a:pPr>
            <a:r>
              <a:rPr lang="en-US" dirty="0"/>
              <a:t>The U-Net module in the diffusion model is a key factor in determining the quality of the generated results, such as T2I and T2</a:t>
            </a:r>
            <a:endParaRPr lang="en-IN" dirty="0"/>
          </a:p>
        </p:txBody>
      </p:sp>
    </p:spTree>
    <p:extLst>
      <p:ext uri="{BB962C8B-B14F-4D97-AF65-F5344CB8AC3E}">
        <p14:creationId xmlns:p14="http://schemas.microsoft.com/office/powerpoint/2010/main" val="1109101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2169B-7AC5-58B0-949B-5C404297EF6F}"/>
              </a:ext>
            </a:extLst>
          </p:cNvPr>
          <p:cNvSpPr>
            <a:spLocks noGrp="1"/>
          </p:cNvSpPr>
          <p:nvPr>
            <p:ph type="title"/>
          </p:nvPr>
        </p:nvSpPr>
        <p:spPr/>
        <p:txBody>
          <a:bodyPr/>
          <a:lstStyle/>
          <a:p>
            <a:r>
              <a:rPr lang="en-IN" dirty="0" err="1"/>
              <a:t>Upblock</a:t>
            </a:r>
            <a:endParaRPr lang="en-IN" dirty="0"/>
          </a:p>
        </p:txBody>
      </p:sp>
      <p:sp>
        <p:nvSpPr>
          <p:cNvPr id="3" name="Content Placeholder 2">
            <a:extLst>
              <a:ext uri="{FF2B5EF4-FFF2-40B4-BE49-F238E27FC236}">
                <a16:creationId xmlns:a16="http://schemas.microsoft.com/office/drawing/2014/main" id="{7A8CD92A-FD87-3EE3-F8D6-EA457D4B1CDC}"/>
              </a:ext>
            </a:extLst>
          </p:cNvPr>
          <p:cNvSpPr>
            <a:spLocks noGrp="1"/>
          </p:cNvSpPr>
          <p:nvPr>
            <p:ph idx="1"/>
          </p:nvPr>
        </p:nvSpPr>
        <p:spPr/>
        <p:txBody>
          <a:bodyPr>
            <a:normAutofit/>
          </a:bodyPr>
          <a:lstStyle/>
          <a:p>
            <a:pPr>
              <a:buFont typeface="Arial" panose="020B0604020202020204" pitchFamily="34" charset="0"/>
              <a:buChar char="•"/>
            </a:pPr>
            <a:r>
              <a:rPr lang="en-US" dirty="0" err="1"/>
              <a:t>UpBlock</a:t>
            </a:r>
            <a:r>
              <a:rPr lang="en-US" dirty="0"/>
              <a:t> is an </a:t>
            </a:r>
            <a:r>
              <a:rPr lang="en-US" dirty="0" err="1"/>
              <a:t>upsampling</a:t>
            </a:r>
            <a:r>
              <a:rPr lang="en-US" dirty="0"/>
              <a:t> block in the decoder part of the U‑Net used in diffusion models like Stable Diffusion.</a:t>
            </a:r>
          </a:p>
          <a:p>
            <a:pPr>
              <a:buFont typeface="Arial" panose="020B0604020202020204" pitchFamily="34" charset="0"/>
              <a:buChar char="•"/>
            </a:pPr>
            <a:r>
              <a:rPr lang="en-US" dirty="0"/>
              <a:t>Inside, it mainly has several </a:t>
            </a:r>
            <a:r>
              <a:rPr lang="en-US" dirty="0" err="1"/>
              <a:t>ResNet</a:t>
            </a:r>
            <a:r>
              <a:rPr lang="en-US" dirty="0"/>
              <a:t> blocks (e.g., 3), which refine the combined features using convolutions and residual connections.</a:t>
            </a:r>
          </a:p>
          <a:p>
            <a:pPr>
              <a:buFont typeface="Arial" panose="020B0604020202020204" pitchFamily="34" charset="0"/>
              <a:buChar char="•"/>
            </a:pPr>
            <a:r>
              <a:rPr lang="en-US" dirty="0"/>
              <a:t>It includes an </a:t>
            </a:r>
            <a:r>
              <a:rPr lang="en-US" dirty="0" err="1"/>
              <a:t>upsampling</a:t>
            </a:r>
            <a:r>
              <a:rPr lang="en-US" dirty="0"/>
              <a:t> operation increasing the spatial resolution of the feature maps as we move toward the final image.</a:t>
            </a:r>
          </a:p>
          <a:p>
            <a:pPr>
              <a:buFont typeface="Arial" panose="020B0604020202020204" pitchFamily="34" charset="0"/>
              <a:buChar char="•"/>
            </a:pPr>
            <a:r>
              <a:rPr lang="en-US" dirty="0" err="1"/>
              <a:t>UpBlock</a:t>
            </a:r>
            <a:r>
              <a:rPr lang="en-US" dirty="0"/>
              <a:t> focuses on spatial detail and texture refinement, not on text conditioning, because it does not contain cross‑attention or self‑attention modules.</a:t>
            </a:r>
            <a:endParaRPr lang="en-IN" dirty="0"/>
          </a:p>
        </p:txBody>
      </p:sp>
    </p:spTree>
    <p:extLst>
      <p:ext uri="{BB962C8B-B14F-4D97-AF65-F5344CB8AC3E}">
        <p14:creationId xmlns:p14="http://schemas.microsoft.com/office/powerpoint/2010/main" val="3346292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9FE07-BCF0-50C2-E4AE-F70DD07EE55D}"/>
              </a:ext>
            </a:extLst>
          </p:cNvPr>
          <p:cNvSpPr>
            <a:spLocks noGrp="1"/>
          </p:cNvSpPr>
          <p:nvPr>
            <p:ph type="title"/>
          </p:nvPr>
        </p:nvSpPr>
        <p:spPr/>
        <p:txBody>
          <a:bodyPr/>
          <a:lstStyle/>
          <a:p>
            <a:r>
              <a:rPr lang="en-IN" dirty="0"/>
              <a:t>Cross Attention Block </a:t>
            </a:r>
          </a:p>
        </p:txBody>
      </p:sp>
      <p:sp>
        <p:nvSpPr>
          <p:cNvPr id="3" name="Content Placeholder 2">
            <a:extLst>
              <a:ext uri="{FF2B5EF4-FFF2-40B4-BE49-F238E27FC236}">
                <a16:creationId xmlns:a16="http://schemas.microsoft.com/office/drawing/2014/main" id="{5896E21A-9563-3B91-2FF8-7D5A52820B84}"/>
              </a:ext>
            </a:extLst>
          </p:cNvPr>
          <p:cNvSpPr>
            <a:spLocks noGrp="1"/>
          </p:cNvSpPr>
          <p:nvPr>
            <p:ph idx="1"/>
          </p:nvPr>
        </p:nvSpPr>
        <p:spPr/>
        <p:txBody>
          <a:bodyPr>
            <a:normAutofit/>
          </a:bodyPr>
          <a:lstStyle/>
          <a:p>
            <a:r>
              <a:rPr lang="en-US" dirty="0"/>
              <a:t>The CLIP text encoder transforms your input, for example, "a cat riding a motorcycle" into numerical embeddings, which it creates as its output. The </a:t>
            </a:r>
            <a:r>
              <a:rPr lang="en-US" dirty="0" err="1"/>
              <a:t>CrossAttnUpBlock</a:t>
            </a:r>
            <a:r>
              <a:rPr lang="en-US" dirty="0"/>
              <a:t> uses these embeddings to steer the image generation toward what you described.</a:t>
            </a:r>
          </a:p>
          <a:p>
            <a:r>
              <a:rPr lang="en-US" dirty="0"/>
              <a:t>The process uses Cross-Attention to execute its functions through:</a:t>
            </a:r>
          </a:p>
          <a:p>
            <a:pPr>
              <a:buFont typeface="Arial" panose="020B0604020202020204" pitchFamily="34" charset="0"/>
              <a:buChar char="•"/>
            </a:pPr>
            <a:r>
              <a:rPr lang="en-US" dirty="0"/>
              <a:t>Image features request information through the Query system</a:t>
            </a:r>
          </a:p>
          <a:p>
            <a:pPr>
              <a:buFont typeface="Arial" panose="020B0604020202020204" pitchFamily="34" charset="0"/>
              <a:buChar char="•"/>
            </a:pPr>
            <a:r>
              <a:rPr lang="en-US" dirty="0"/>
              <a:t>Text embeddings supply information through the Key &amp; Value system</a:t>
            </a:r>
          </a:p>
          <a:p>
            <a:pPr>
              <a:buFont typeface="Arial" panose="020B0604020202020204" pitchFamily="34" charset="0"/>
              <a:buChar char="•"/>
            </a:pPr>
            <a:r>
              <a:rPr lang="en-US" dirty="0"/>
              <a:t>The system now produces image features that conform to your spoken description.</a:t>
            </a:r>
          </a:p>
          <a:p>
            <a:r>
              <a:rPr lang="en-US" dirty="0"/>
              <a:t>The system contains a Self-Attention layer, which enables image patches to observe each other. This feature maintains spatial consistency between a cat's face and its body and between all parts of the motorcycle.</a:t>
            </a:r>
            <a:endParaRPr lang="en-IN" dirty="0"/>
          </a:p>
        </p:txBody>
      </p:sp>
    </p:spTree>
    <p:extLst>
      <p:ext uri="{BB962C8B-B14F-4D97-AF65-F5344CB8AC3E}">
        <p14:creationId xmlns:p14="http://schemas.microsoft.com/office/powerpoint/2010/main" val="2782800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749E-78E1-B0BB-9682-B58CC8511BAD}"/>
              </a:ext>
            </a:extLst>
          </p:cNvPr>
          <p:cNvSpPr>
            <a:spLocks noGrp="1"/>
          </p:cNvSpPr>
          <p:nvPr>
            <p:ph type="title"/>
          </p:nvPr>
        </p:nvSpPr>
        <p:spPr/>
        <p:txBody>
          <a:bodyPr/>
          <a:lstStyle/>
          <a:p>
            <a:pPr algn="ctr"/>
            <a:r>
              <a:rPr lang="en-IN" dirty="0"/>
              <a:t>Fourier Transform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CF0D1A-8D79-9888-9FF3-C6B63966FFC2}"/>
                  </a:ext>
                </a:extLst>
              </p:cNvPr>
              <p:cNvSpPr>
                <a:spLocks noGrp="1"/>
              </p:cNvSpPr>
              <p:nvPr>
                <p:ph idx="1"/>
              </p:nvPr>
            </p:nvSpPr>
            <p:spPr/>
            <p:txBody>
              <a:bodyPr>
                <a:normAutofit/>
              </a:bodyPr>
              <a:lstStyle/>
              <a:p>
                <a:pPr>
                  <a:buFont typeface="Arial" panose="020B0604020202020204" pitchFamily="34" charset="0"/>
                  <a:buChar char="•"/>
                </a:pPr>
                <a:r>
                  <a:rPr lang="en-US" dirty="0"/>
                  <a:t>The Fourier transform, a mathematical operation that decomposes a signal into its component frequency components, is widely used in signal processing, as well as for tasks such as image recognition, object detection, and image compression. </a:t>
                </a:r>
              </a:p>
              <a:p>
                <a:pPr>
                  <a:buFont typeface="Arial" panose="020B0604020202020204" pitchFamily="34" charset="0"/>
                  <a:buChar char="•"/>
                </a:pPr>
                <a:r>
                  <a:rPr lang="en-US" dirty="0"/>
                  <a:t>Fourier transform transforms images into frequency domain to detect visual features such as edges and shapes. </a:t>
                </a:r>
              </a:p>
              <a:p>
                <a:pPr>
                  <a:buFont typeface="Arial" panose="020B0604020202020204" pitchFamily="34" charset="0"/>
                  <a:buChar char="•"/>
                </a:pPr>
                <a:r>
                  <a:rPr lang="en-US" dirty="0"/>
                  <a:t>In machine learning, Fourier transform can be applied to convolutional neural networks to improve the performance of image classification and recognition by detecting certain frequency components in images.</a:t>
                </a:r>
              </a:p>
              <a:p>
                <a:pPr>
                  <a:buFont typeface="Arial" panose="020B0604020202020204" pitchFamily="34" charset="0"/>
                  <a:buChar char="•"/>
                </a:pPr>
                <a:r>
                  <a:rPr lang="en-US" dirty="0"/>
                  <a:t>For time domain signal f(t) , transform it into the frequency domain by Fourier transform, which can be expressed as:</a:t>
                </a:r>
              </a:p>
              <a:p>
                <a14:m>
                  <m:oMath xmlns:m="http://schemas.openxmlformats.org/officeDocument/2006/math">
                    <m:r>
                      <a:rPr lang="en-IN" i="1" smtClean="0">
                        <a:latin typeface="Cambria Math" panose="02040503050406030204" pitchFamily="18" charset="0"/>
                      </a:rPr>
                      <m:t>𝐹</m:t>
                    </m:r>
                    <m:d>
                      <m:dPr>
                        <m:ctrlPr>
                          <a:rPr lang="en-IN" i="1">
                            <a:latin typeface="Cambria Math" panose="02040503050406030204" pitchFamily="18" charset="0"/>
                          </a:rPr>
                        </m:ctrlPr>
                      </m:dPr>
                      <m:e>
                        <m:r>
                          <a:rPr lang="en-IN" i="1">
                            <a:latin typeface="Cambria Math" panose="02040503050406030204" pitchFamily="18" charset="0"/>
                          </a:rPr>
                          <m:t>𝜔</m:t>
                        </m:r>
                      </m:e>
                    </m:d>
                    <m:r>
                      <a:rPr lang="en-IN" i="1">
                        <a:latin typeface="Cambria Math" panose="02040503050406030204" pitchFamily="18" charset="0"/>
                      </a:rPr>
                      <m:t>=</m:t>
                    </m:r>
                    <m:nary>
                      <m:naryPr>
                        <m:ctrlPr>
                          <a:rPr lang="en-IN" i="1">
                            <a:latin typeface="Cambria Math" panose="02040503050406030204" pitchFamily="18" charset="0"/>
                          </a:rPr>
                        </m:ctrlPr>
                      </m:naryPr>
                      <m:sub>
                        <m:r>
                          <a:rPr lang="en-IN" i="1">
                            <a:latin typeface="Cambria Math" panose="02040503050406030204" pitchFamily="18" charset="0"/>
                          </a:rPr>
                          <m:t>−∞</m:t>
                        </m:r>
                      </m:sub>
                      <m:sup>
                        <m:r>
                          <a:rPr lang="en-IN" i="1">
                            <a:latin typeface="Cambria Math" panose="02040503050406030204" pitchFamily="18" charset="0"/>
                          </a:rPr>
                          <m:t>∞</m:t>
                        </m:r>
                      </m:sup>
                      <m:e>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𝑡</m:t>
                            </m:r>
                          </m:e>
                        </m:d>
                      </m:e>
                    </m:nary>
                    <m:r>
                      <a:rPr lang="en-IN" i="1">
                        <a:latin typeface="Cambria Math" panose="02040503050406030204" pitchFamily="18" charset="0"/>
                      </a:rPr>
                      <m:t> </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i="1">
                            <a:latin typeface="Cambria Math" panose="02040503050406030204" pitchFamily="18" charset="0"/>
                          </a:rPr>
                          <m:t>−</m:t>
                        </m:r>
                        <m:r>
                          <a:rPr lang="en-IN" i="1">
                            <a:latin typeface="Cambria Math" panose="02040503050406030204" pitchFamily="18" charset="0"/>
                          </a:rPr>
                          <m:t>𝑖</m:t>
                        </m:r>
                        <m:r>
                          <a:rPr lang="en-IN" i="1">
                            <a:latin typeface="Cambria Math" panose="02040503050406030204" pitchFamily="18" charset="0"/>
                          </a:rPr>
                          <m:t>𝜔</m:t>
                        </m:r>
                        <m:r>
                          <a:rPr lang="en-IN" i="1">
                            <a:latin typeface="Cambria Math" panose="02040503050406030204" pitchFamily="18" charset="0"/>
                          </a:rPr>
                          <m:t>𝑡</m:t>
                        </m:r>
                      </m:sup>
                    </m:sSup>
                    <m:r>
                      <a:rPr lang="en-IN" i="1">
                        <a:latin typeface="Cambria Math" panose="02040503050406030204" pitchFamily="18" charset="0"/>
                      </a:rPr>
                      <m:t> </m:t>
                    </m:r>
                    <m:r>
                      <a:rPr lang="en-IN" i="1">
                        <a:latin typeface="Cambria Math" panose="02040503050406030204" pitchFamily="18" charset="0"/>
                      </a:rPr>
                      <m:t>𝑑𝑡</m:t>
                    </m:r>
                  </m:oMath>
                </a14:m>
                <a:endParaRPr lang="en-US" dirty="0"/>
              </a:p>
              <a:p>
                <a:endParaRPr lang="en-IN" dirty="0"/>
              </a:p>
            </p:txBody>
          </p:sp>
        </mc:Choice>
        <mc:Fallback xmlns="">
          <p:sp>
            <p:nvSpPr>
              <p:cNvPr id="3" name="Content Placeholder 2">
                <a:extLst>
                  <a:ext uri="{FF2B5EF4-FFF2-40B4-BE49-F238E27FC236}">
                    <a16:creationId xmlns:a16="http://schemas.microsoft.com/office/drawing/2014/main" id="{50CF0D1A-8D79-9888-9FF3-C6B63966FFC2}"/>
                  </a:ext>
                </a:extLst>
              </p:cNvPr>
              <p:cNvSpPr>
                <a:spLocks noGrp="1" noRot="1" noChangeAspect="1" noMove="1" noResize="1" noEditPoints="1" noAdjustHandles="1" noChangeArrowheads="1" noChangeShapeType="1" noTextEdit="1"/>
              </p:cNvSpPr>
              <p:nvPr>
                <p:ph idx="1"/>
              </p:nvPr>
            </p:nvSpPr>
            <p:spPr>
              <a:blipFill>
                <a:blip r:embed="rId2"/>
                <a:stretch>
                  <a:fillRect l="-1515" t="-1667" r="-1091" b="-19242"/>
                </a:stretch>
              </a:blipFill>
            </p:spPr>
            <p:txBody>
              <a:bodyPr/>
              <a:lstStyle/>
              <a:p>
                <a:r>
                  <a:rPr lang="en-IN">
                    <a:noFill/>
                  </a:rPr>
                  <a:t> </a:t>
                </a:r>
              </a:p>
            </p:txBody>
          </p:sp>
        </mc:Fallback>
      </mc:AlternateContent>
    </p:spTree>
    <p:extLst>
      <p:ext uri="{BB962C8B-B14F-4D97-AF65-F5344CB8AC3E}">
        <p14:creationId xmlns:p14="http://schemas.microsoft.com/office/powerpoint/2010/main" val="659670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66DC7-49D5-BE38-0EE7-E0C1A4134513}"/>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D5B111-E558-948A-9377-D8B8AAE95E79}"/>
                  </a:ext>
                </a:extLst>
              </p:cNvPr>
              <p:cNvSpPr>
                <a:spLocks noGrp="1"/>
              </p:cNvSpPr>
              <p:nvPr>
                <p:ph idx="1"/>
              </p:nvPr>
            </p:nvSpPr>
            <p:spPr/>
            <p:txBody>
              <a:bodyPr>
                <a:normAutofit lnSpcReduction="10000"/>
              </a:bodyPr>
              <a:lstStyle/>
              <a:p>
                <a:r>
                  <a:rPr lang="en-US" dirty="0"/>
                  <a:t>In the calculation process, due to the high complexity of discrete Fourier transform, Fast Fourier transform (FFT) is introduced to simplify the computational complexity further and improve the efficiency. FFT is an algorithm that simplifies DFT calculation using the divide-and-conquer idea.</a:t>
                </a:r>
              </a:p>
              <a:p>
                <a:r>
                  <a:rPr lang="en-IN" dirty="0"/>
                  <a:t>For polynomials, </a:t>
                </a:r>
              </a:p>
              <a:p>
                <a14:m>
                  <m:oMath xmlns:m="http://schemas.openxmlformats.org/officeDocument/2006/math">
                    <m:r>
                      <a:rPr lang="en-IN" i="1" smtClean="0">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r>
                      <a:rPr lang="en-IN" i="1">
                        <a:latin typeface="Cambria Math" panose="02040503050406030204" pitchFamily="18" charset="0"/>
                      </a:rPr>
                      <m:t>=</m:t>
                    </m:r>
                    <m:nary>
                      <m:naryPr>
                        <m:chr m:val="∑"/>
                        <m:ctrlPr>
                          <a:rPr lang="en-IN" i="1">
                            <a:latin typeface="Cambria Math" panose="02040503050406030204" pitchFamily="18" charset="0"/>
                          </a:rPr>
                        </m:ctrlPr>
                      </m:naryPr>
                      <m:sub>
                        <m:r>
                          <a:rPr lang="en-IN" i="1">
                            <a:latin typeface="Cambria Math" panose="02040503050406030204" pitchFamily="18" charset="0"/>
                          </a:rPr>
                          <m:t>𝑖</m:t>
                        </m:r>
                        <m:r>
                          <a:rPr lang="en-IN" i="1">
                            <a:latin typeface="Cambria Math" panose="02040503050406030204" pitchFamily="18" charset="0"/>
                          </a:rPr>
                          <m:t>=0</m:t>
                        </m:r>
                      </m:sub>
                      <m:sup>
                        <m:r>
                          <a:rPr lang="en-IN" i="1">
                            <a:latin typeface="Cambria Math" panose="02040503050406030204" pitchFamily="18" charset="0"/>
                          </a:rPr>
                          <m:t>𝑛</m:t>
                        </m:r>
                      </m:sup>
                      <m:e>
                        <m:sSub>
                          <m:sSubPr>
                            <m:ctrlPr>
                              <a:rPr lang="en-IN" i="1">
                                <a:latin typeface="Cambria Math" panose="02040503050406030204" pitchFamily="18" charset="0"/>
                              </a:rPr>
                            </m:ctrlPr>
                          </m:sSubPr>
                          <m:e>
                            <m:r>
                              <a:rPr lang="en-IN" i="1">
                                <a:latin typeface="Cambria Math" panose="02040503050406030204" pitchFamily="18" charset="0"/>
                              </a:rPr>
                              <m:t>𝑎</m:t>
                            </m:r>
                          </m:e>
                          <m:sub>
                            <m:r>
                              <a:rPr lang="en-IN" i="1">
                                <a:latin typeface="Cambria Math" panose="02040503050406030204" pitchFamily="18" charset="0"/>
                              </a:rPr>
                              <m:t>𝑖</m:t>
                            </m:r>
                          </m:sub>
                        </m:sSub>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i="1">
                                <a:latin typeface="Cambria Math" panose="02040503050406030204" pitchFamily="18" charset="0"/>
                              </a:rPr>
                              <m:t>𝑖</m:t>
                            </m:r>
                          </m:sup>
                        </m:sSup>
                      </m:e>
                    </m:nary>
                    <m:r>
                      <a:rPr lang="en-IN" i="1">
                        <a:latin typeface="Cambria Math" panose="02040503050406030204" pitchFamily="18" charset="0"/>
                      </a:rPr>
                      <m:t>, </m:t>
                    </m:r>
                    <m:r>
                      <a:rPr lang="en-IN" i="1" smtClean="0">
                        <a:latin typeface="Cambria Math" panose="02040503050406030204" pitchFamily="18" charset="0"/>
                      </a:rPr>
                      <m:t>𝑔</m:t>
                    </m:r>
                    <m:d>
                      <m:dPr>
                        <m:ctrlPr>
                          <a:rPr lang="en-IN" i="1">
                            <a:latin typeface="Cambria Math" panose="02040503050406030204" pitchFamily="18" charset="0"/>
                          </a:rPr>
                        </m:ctrlPr>
                      </m:dPr>
                      <m:e>
                        <m:r>
                          <a:rPr lang="en-IN" i="1">
                            <a:latin typeface="Cambria Math" panose="02040503050406030204" pitchFamily="18" charset="0"/>
                          </a:rPr>
                          <m:t>𝑥</m:t>
                        </m:r>
                      </m:e>
                    </m:d>
                    <m:r>
                      <a:rPr lang="en-IN" i="1">
                        <a:latin typeface="Cambria Math" panose="02040503050406030204" pitchFamily="18" charset="0"/>
                      </a:rPr>
                      <m:t>=</m:t>
                    </m:r>
                    <m:nary>
                      <m:naryPr>
                        <m:chr m:val="∑"/>
                        <m:ctrlPr>
                          <a:rPr lang="en-IN" i="1">
                            <a:latin typeface="Cambria Math" panose="02040503050406030204" pitchFamily="18" charset="0"/>
                          </a:rPr>
                        </m:ctrlPr>
                      </m:naryPr>
                      <m:sub>
                        <m:r>
                          <a:rPr lang="en-IN" i="1">
                            <a:latin typeface="Cambria Math" panose="02040503050406030204" pitchFamily="18" charset="0"/>
                          </a:rPr>
                          <m:t>𝑖</m:t>
                        </m:r>
                        <m:r>
                          <a:rPr lang="en-IN" i="1">
                            <a:latin typeface="Cambria Math" panose="02040503050406030204" pitchFamily="18" charset="0"/>
                          </a:rPr>
                          <m:t>=0</m:t>
                        </m:r>
                      </m:sub>
                      <m:sup>
                        <m:r>
                          <a:rPr lang="en-IN" i="1">
                            <a:latin typeface="Cambria Math" panose="02040503050406030204" pitchFamily="18" charset="0"/>
                          </a:rPr>
                          <m:t>𝑛</m:t>
                        </m:r>
                      </m:sup>
                      <m:e>
                        <m:sSub>
                          <m:sSubPr>
                            <m:ctrlPr>
                              <a:rPr lang="en-IN" i="1">
                                <a:latin typeface="Cambria Math" panose="02040503050406030204" pitchFamily="18" charset="0"/>
                              </a:rPr>
                            </m:ctrlPr>
                          </m:sSubPr>
                          <m:e>
                            <m:r>
                              <a:rPr lang="en-IN" i="1">
                                <a:latin typeface="Cambria Math" panose="02040503050406030204" pitchFamily="18" charset="0"/>
                              </a:rPr>
                              <m:t>𝑏</m:t>
                            </m:r>
                          </m:e>
                          <m:sub>
                            <m:r>
                              <a:rPr lang="en-IN" i="1">
                                <a:latin typeface="Cambria Math" panose="02040503050406030204" pitchFamily="18" charset="0"/>
                              </a:rPr>
                              <m:t>𝑖</m:t>
                            </m:r>
                          </m:sub>
                        </m:sSub>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i="1">
                                <a:latin typeface="Cambria Math" panose="02040503050406030204" pitchFamily="18" charset="0"/>
                              </a:rPr>
                              <m:t>𝑖</m:t>
                            </m:r>
                          </m:sup>
                        </m:sSup>
                      </m:e>
                    </m:nary>
                  </m:oMath>
                </a14:m>
                <a:r>
                  <a:rPr lang="en-IN" dirty="0"/>
                  <a:t> </a:t>
                </a:r>
                <a:r>
                  <a:rPr lang="en-US" dirty="0"/>
                  <a:t>define their product </a:t>
                </a:r>
                <a:r>
                  <a:rPr lang="en-US" dirty="0" err="1"/>
                  <a:t>fg</a:t>
                </a:r>
                <a:r>
                  <a:rPr lang="en-US" dirty="0"/>
                  <a:t> as:</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𝑓𝑔</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d>
                        <m:dPr>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sub>
                              </m:s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𝑖</m:t>
                                  </m:r>
                                </m:sup>
                              </m:sSup>
                            </m:e>
                          </m:nary>
                        </m:e>
                      </m:d>
                      <m:d>
                        <m:dPr>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m:t>
                                  </m:r>
                                </m:sub>
                              </m:s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𝑖</m:t>
                                  </m:r>
                                </m:sup>
                              </m:sSup>
                            </m:e>
                          </m:nary>
                        </m:e>
                      </m:d>
                    </m:oMath>
                  </m:oMathPara>
                </a14:m>
                <a:endParaRPr lang="en-US" dirty="0"/>
              </a:p>
              <a:p>
                <a:endParaRPr lang="en-US" dirty="0"/>
              </a:p>
              <a:p>
                <a:r>
                  <a:rPr lang="en-US" dirty="0"/>
                  <a:t>We can calculate the coefficients of each term of this product by the complexity of O(</a:t>
                </a:r>
                <a14:m>
                  <m:oMath xmlns:m="http://schemas.openxmlformats.org/officeDocument/2006/math">
                    <m:sSup>
                      <m:sSupPr>
                        <m:ctrlPr>
                          <a:rPr lang="en-US" i="1" smtClean="0">
                            <a:latin typeface="Cambria Math" panose="02040503050406030204" pitchFamily="18" charset="0"/>
                          </a:rPr>
                        </m:ctrlPr>
                      </m:sSupPr>
                      <m:e>
                        <m:r>
                          <m:rPr>
                            <m:sty m:val="p"/>
                          </m:rPr>
                          <a:rPr lang="en-IN" b="0" i="1" smtClean="0">
                            <a:latin typeface="Cambria Math" panose="02040503050406030204" pitchFamily="18" charset="0"/>
                          </a:rPr>
                          <m:t>N</m:t>
                        </m:r>
                      </m:e>
                      <m:sup>
                        <m:r>
                          <a:rPr lang="en-IN" b="0" i="1" smtClean="0">
                            <a:latin typeface="Cambria Math" panose="02040503050406030204" pitchFamily="18" charset="0"/>
                          </a:rPr>
                          <m:t>2</m:t>
                        </m:r>
                      </m:sup>
                    </m:sSup>
                  </m:oMath>
                </a14:m>
                <a:r>
                  <a:rPr lang="en-US" dirty="0"/>
                  <a:t>) but FFT can calculate the product by the time complexity of O(</a:t>
                </a:r>
                <a:r>
                  <a:rPr lang="en-US" dirty="0" err="1"/>
                  <a:t>NlogN</a:t>
                </a:r>
                <a:r>
                  <a:rPr lang="en-US" dirty="0"/>
                  <a:t>). Reduce time complexity with FFT, the discrete Fourier transform executed on the computer can be realized quickly.</a:t>
                </a:r>
                <a:endParaRPr lang="en-IN" dirty="0"/>
              </a:p>
              <a:p>
                <a:endParaRPr lang="en-IN" dirty="0"/>
              </a:p>
            </p:txBody>
          </p:sp>
        </mc:Choice>
        <mc:Fallback xmlns="">
          <p:sp>
            <p:nvSpPr>
              <p:cNvPr id="3" name="Content Placeholder 2">
                <a:extLst>
                  <a:ext uri="{FF2B5EF4-FFF2-40B4-BE49-F238E27FC236}">
                    <a16:creationId xmlns:a16="http://schemas.microsoft.com/office/drawing/2014/main" id="{86D5B111-E558-948A-9377-D8B8AAE95E79}"/>
                  </a:ext>
                </a:extLst>
              </p:cNvPr>
              <p:cNvSpPr>
                <a:spLocks noGrp="1" noRot="1" noChangeAspect="1" noMove="1" noResize="1" noEditPoints="1" noAdjustHandles="1" noChangeArrowheads="1" noChangeShapeType="1" noTextEdit="1"/>
              </p:cNvSpPr>
              <p:nvPr>
                <p:ph idx="1"/>
              </p:nvPr>
            </p:nvSpPr>
            <p:spPr>
              <a:blipFill>
                <a:blip r:embed="rId2"/>
                <a:stretch>
                  <a:fillRect l="-1515" t="-2273" r="-1030"/>
                </a:stretch>
              </a:blipFill>
            </p:spPr>
            <p:txBody>
              <a:bodyPr/>
              <a:lstStyle/>
              <a:p>
                <a:r>
                  <a:rPr lang="en-IN">
                    <a:noFill/>
                  </a:rPr>
                  <a:t> </a:t>
                </a:r>
              </a:p>
            </p:txBody>
          </p:sp>
        </mc:Fallback>
      </mc:AlternateContent>
    </p:spTree>
    <p:extLst>
      <p:ext uri="{BB962C8B-B14F-4D97-AF65-F5344CB8AC3E}">
        <p14:creationId xmlns:p14="http://schemas.microsoft.com/office/powerpoint/2010/main" val="700185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76427-D908-1638-90A0-5C71850860F7}"/>
              </a:ext>
            </a:extLst>
          </p:cNvPr>
          <p:cNvSpPr>
            <a:spLocks noGrp="1"/>
          </p:cNvSpPr>
          <p:nvPr>
            <p:ph type="title"/>
          </p:nvPr>
        </p:nvSpPr>
        <p:spPr/>
        <p:txBody>
          <a:bodyPr/>
          <a:lstStyle/>
          <a:p>
            <a:r>
              <a:rPr lang="en-IN" dirty="0"/>
              <a:t>How does FFT help to enhance the image?</a:t>
            </a:r>
          </a:p>
        </p:txBody>
      </p:sp>
      <p:sp>
        <p:nvSpPr>
          <p:cNvPr id="3" name="Content Placeholder 2">
            <a:extLst>
              <a:ext uri="{FF2B5EF4-FFF2-40B4-BE49-F238E27FC236}">
                <a16:creationId xmlns:a16="http://schemas.microsoft.com/office/drawing/2014/main" id="{864FCD6F-0D5C-71DD-D4DB-C492E1152AC2}"/>
              </a:ext>
            </a:extLst>
          </p:cNvPr>
          <p:cNvSpPr>
            <a:spLocks noGrp="1"/>
          </p:cNvSpPr>
          <p:nvPr>
            <p:ph idx="1"/>
          </p:nvPr>
        </p:nvSpPr>
        <p:spPr/>
        <p:txBody>
          <a:bodyPr>
            <a:normAutofit/>
          </a:bodyPr>
          <a:lstStyle/>
          <a:p>
            <a:pPr>
              <a:buFont typeface="Arial" panose="020B0604020202020204" pitchFamily="34" charset="0"/>
              <a:buChar char="•"/>
            </a:pPr>
            <a:r>
              <a:rPr lang="en-US" dirty="0"/>
              <a:t>FFT converts the image (or feature map) from the spatial domain to the frequency domain, representing it as low and high-frequency components.</a:t>
            </a:r>
          </a:p>
          <a:p>
            <a:pPr>
              <a:buFont typeface="Arial" panose="020B0604020202020204" pitchFamily="34" charset="0"/>
              <a:buChar char="•"/>
            </a:pPr>
            <a:r>
              <a:rPr lang="en-US" dirty="0"/>
              <a:t>Low frequencies capture smooth structures and global shapes; high frequencies capture edges, fine details, and also noise.</a:t>
            </a:r>
          </a:p>
          <a:p>
            <a:pPr>
              <a:buFont typeface="Arial" panose="020B0604020202020204" pitchFamily="34" charset="0"/>
              <a:buChar char="•"/>
            </a:pPr>
            <a:r>
              <a:rPr lang="en-US" dirty="0"/>
              <a:t>By boosting high frequencies, you can sharpen edges and enhance fine details; by reducing high frequencies, you can smooth the image and denoise it.</a:t>
            </a:r>
          </a:p>
          <a:p>
            <a:pPr>
              <a:buFont typeface="Arial" panose="020B0604020202020204" pitchFamily="34" charset="0"/>
              <a:buChar char="•"/>
            </a:pPr>
            <a:r>
              <a:rPr lang="en-US" dirty="0"/>
              <a:t>You can also selectively scale specific frequency bands to </a:t>
            </a:r>
            <a:r>
              <a:rPr lang="en-US" dirty="0" err="1"/>
              <a:t>emphasise</a:t>
            </a:r>
            <a:r>
              <a:rPr lang="en-US" dirty="0"/>
              <a:t> certain textures, patterns, or contrast characteristics.</a:t>
            </a:r>
          </a:p>
          <a:p>
            <a:pPr>
              <a:buFont typeface="Arial" panose="020B0604020202020204" pitchFamily="34" charset="0"/>
              <a:buChar char="•"/>
            </a:pPr>
            <a:r>
              <a:rPr lang="en-US" dirty="0"/>
              <a:t>After modifying these frequency components, the inverse FFT transforms them back to image space, producing an enhanced image with controlled sharpness, smoothness, or texture.</a:t>
            </a:r>
            <a:endParaRPr lang="en-IN" dirty="0"/>
          </a:p>
        </p:txBody>
      </p:sp>
    </p:spTree>
    <p:extLst>
      <p:ext uri="{BB962C8B-B14F-4D97-AF65-F5344CB8AC3E}">
        <p14:creationId xmlns:p14="http://schemas.microsoft.com/office/powerpoint/2010/main" val="3501741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51E3-72B4-5AED-EF83-C8DEBEA7DACB}"/>
              </a:ext>
            </a:extLst>
          </p:cNvPr>
          <p:cNvSpPr>
            <a:spLocks noGrp="1"/>
          </p:cNvSpPr>
          <p:nvPr>
            <p:ph type="title"/>
          </p:nvPr>
        </p:nvSpPr>
        <p:spPr/>
        <p:txBody>
          <a:bodyPr/>
          <a:lstStyle/>
          <a:p>
            <a:pPr algn="ctr"/>
            <a:r>
              <a:rPr lang="en-US" dirty="0"/>
              <a:t>Amplitude and phase scaling in Fourier transform</a:t>
            </a:r>
            <a:endParaRPr lang="en-IN" dirty="0"/>
          </a:p>
        </p:txBody>
      </p:sp>
      <p:sp>
        <p:nvSpPr>
          <p:cNvPr id="3" name="Content Placeholder 2">
            <a:extLst>
              <a:ext uri="{FF2B5EF4-FFF2-40B4-BE49-F238E27FC236}">
                <a16:creationId xmlns:a16="http://schemas.microsoft.com/office/drawing/2014/main" id="{FE3A7D35-C389-3A92-E20F-1DF224257A33}"/>
              </a:ext>
            </a:extLst>
          </p:cNvPr>
          <p:cNvSpPr>
            <a:spLocks noGrp="1"/>
          </p:cNvSpPr>
          <p:nvPr>
            <p:ph idx="1"/>
          </p:nvPr>
        </p:nvSpPr>
        <p:spPr/>
        <p:txBody>
          <a:bodyPr/>
          <a:lstStyle/>
          <a:p>
            <a:r>
              <a:rPr lang="en-US" dirty="0"/>
              <a:t>In signal processing, by controlling the amplitude and phase of different frequency components of Fourier transform, a variety of signals with different waveforms can be </a:t>
            </a:r>
            <a:r>
              <a:rPr lang="en-US" dirty="0" err="1"/>
              <a:t>synthesised</a:t>
            </a:r>
            <a:r>
              <a:rPr lang="en-US" dirty="0"/>
              <a:t>. Similarly, in image processing, phase and amplitude can be utilized to describe image features. Phase can reflect an image’s texture and structure, whereas amplitude can reflect its brightness and contrast. The impact of scaling the amplitude and phase of different frequency components on T2I:</a:t>
            </a:r>
          </a:p>
          <a:p>
            <a:r>
              <a:rPr lang="en-IN" b="1" dirty="0"/>
              <a:t>Low Frequency Components Scaling :</a:t>
            </a:r>
          </a:p>
          <a:p>
            <a:r>
              <a:rPr lang="en-US" dirty="0"/>
              <a:t>This approach preserves high-frequency details (edges, fine textures, sharp transitions) while selectively modifying low-frequency components (overall brightness, </a:t>
            </a:r>
            <a:r>
              <a:rPr lang="en-US" dirty="0" err="1"/>
              <a:t>colour</a:t>
            </a:r>
            <a:r>
              <a:rPr lang="en-US" dirty="0"/>
              <a:t> tone, global structure). This strategy proves particularly effective for enhancing semantic alignment and improving structural layout.</a:t>
            </a:r>
            <a:endParaRPr lang="en-IN" b="1" dirty="0"/>
          </a:p>
          <a:p>
            <a:endParaRPr lang="en-IN" dirty="0"/>
          </a:p>
        </p:txBody>
      </p:sp>
    </p:spTree>
    <p:extLst>
      <p:ext uri="{BB962C8B-B14F-4D97-AF65-F5344CB8AC3E}">
        <p14:creationId xmlns:p14="http://schemas.microsoft.com/office/powerpoint/2010/main" val="1718695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97CF1-2310-A315-1E50-D86474CE4E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4DB68A-DD1B-4B54-9294-86C24143D1CD}"/>
              </a:ext>
            </a:extLst>
          </p:cNvPr>
          <p:cNvSpPr>
            <a:spLocks noGrp="1"/>
          </p:cNvSpPr>
          <p:nvPr>
            <p:ph idx="1"/>
          </p:nvPr>
        </p:nvSpPr>
        <p:spPr/>
        <p:txBody>
          <a:bodyPr>
            <a:normAutofit lnSpcReduction="10000"/>
          </a:bodyPr>
          <a:lstStyle/>
          <a:p>
            <a:r>
              <a:rPr lang="en-US" b="1" dirty="0"/>
              <a:t>Characteristics of Low Frequency Amplitude</a:t>
            </a:r>
            <a:r>
              <a:rPr lang="en-US" dirty="0"/>
              <a:t>:</a:t>
            </a:r>
          </a:p>
          <a:p>
            <a:pPr>
              <a:buFont typeface="Arial" panose="020B0604020202020204" pitchFamily="34" charset="0"/>
              <a:buChar char="•"/>
            </a:pPr>
            <a:r>
              <a:rPr lang="en-US" dirty="0"/>
              <a:t>Represents global illumination and broad </a:t>
            </a:r>
            <a:r>
              <a:rPr lang="en-US" dirty="0" err="1"/>
              <a:t>colour</a:t>
            </a:r>
            <a:r>
              <a:rPr lang="en-US" dirty="0"/>
              <a:t> distributions</a:t>
            </a:r>
          </a:p>
          <a:p>
            <a:pPr>
              <a:buFont typeface="Arial" panose="020B0604020202020204" pitchFamily="34" charset="0"/>
              <a:buChar char="•"/>
            </a:pPr>
            <a:r>
              <a:rPr lang="en-US" dirty="0"/>
              <a:t>Controls overall image brightness and tonal range</a:t>
            </a:r>
          </a:p>
          <a:p>
            <a:pPr>
              <a:buFont typeface="Arial" panose="020B0604020202020204" pitchFamily="34" charset="0"/>
              <a:buChar char="•"/>
            </a:pPr>
            <a:r>
              <a:rPr lang="en-US" dirty="0"/>
              <a:t>Influences perception of depth and three-dimensionality</a:t>
            </a:r>
          </a:p>
          <a:p>
            <a:r>
              <a:rPr lang="en-US" b="1" dirty="0"/>
              <a:t>Effects of Scaling Low Frequency Amplitude</a:t>
            </a:r>
            <a:r>
              <a:rPr lang="en-US" dirty="0"/>
              <a:t> </a:t>
            </a:r>
            <a:r>
              <a:rPr lang="en-US" b="1" dirty="0"/>
              <a:t>Reducing LF Amplitude (scale &lt; 1.0)</a:t>
            </a:r>
            <a:r>
              <a:rPr lang="en-US" dirty="0"/>
              <a:t>:</a:t>
            </a:r>
          </a:p>
          <a:p>
            <a:pPr>
              <a:buFont typeface="Arial" panose="020B0604020202020204" pitchFamily="34" charset="0"/>
              <a:buChar char="•"/>
            </a:pPr>
            <a:r>
              <a:rPr lang="en-US" dirty="0"/>
              <a:t>Image Quality: Enhances local contrast while maintaining edge sharpness</a:t>
            </a:r>
          </a:p>
          <a:p>
            <a:pPr>
              <a:buFont typeface="Arial" panose="020B0604020202020204" pitchFamily="34" charset="0"/>
              <a:buChar char="•"/>
            </a:pPr>
            <a:r>
              <a:rPr lang="en-US" dirty="0"/>
              <a:t>Semantic Alignment: Improves text-to-image correspondence by reducing background dominance</a:t>
            </a:r>
          </a:p>
          <a:p>
            <a:pPr>
              <a:buFont typeface="Arial" panose="020B0604020202020204" pitchFamily="34" charset="0"/>
              <a:buChar char="•"/>
            </a:pPr>
            <a:r>
              <a:rPr lang="en-US" dirty="0"/>
              <a:t>Visual Effect: Creates more defined subject-background separation</a:t>
            </a:r>
          </a:p>
          <a:p>
            <a:pPr>
              <a:buFont typeface="Arial" panose="020B0604020202020204" pitchFamily="34" charset="0"/>
              <a:buChar char="•"/>
            </a:pPr>
            <a:r>
              <a:rPr lang="en-US" dirty="0"/>
              <a:t>Applications: Portrait enhancement, object isolation, semantic clarity</a:t>
            </a:r>
          </a:p>
          <a:p>
            <a:endParaRPr lang="en-IN" b="1" dirty="0"/>
          </a:p>
        </p:txBody>
      </p:sp>
    </p:spTree>
    <p:extLst>
      <p:ext uri="{BB962C8B-B14F-4D97-AF65-F5344CB8AC3E}">
        <p14:creationId xmlns:p14="http://schemas.microsoft.com/office/powerpoint/2010/main" val="1884652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CC711-A304-DFD8-15FA-A2518A2B61D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4302DEC-4B13-82F0-7CCF-2C0090998F0D}"/>
              </a:ext>
            </a:extLst>
          </p:cNvPr>
          <p:cNvSpPr>
            <a:spLocks noGrp="1"/>
          </p:cNvSpPr>
          <p:nvPr>
            <p:ph idx="1"/>
          </p:nvPr>
        </p:nvSpPr>
        <p:spPr/>
        <p:txBody>
          <a:bodyPr>
            <a:normAutofit fontScale="92500" lnSpcReduction="20000"/>
          </a:bodyPr>
          <a:lstStyle/>
          <a:p>
            <a:r>
              <a:rPr lang="en-US" b="1" dirty="0"/>
              <a:t>Increasing LF Amplitude</a:t>
            </a:r>
            <a:r>
              <a:rPr lang="en-US" dirty="0"/>
              <a:t>:</a:t>
            </a:r>
          </a:p>
          <a:p>
            <a:pPr>
              <a:buFont typeface="Arial" panose="020B0604020202020204" pitchFamily="34" charset="0"/>
              <a:buChar char="•"/>
            </a:pPr>
            <a:r>
              <a:rPr lang="en-US" dirty="0"/>
              <a:t>Image Quality: Brightens overall appearance, may reduce local contrast</a:t>
            </a:r>
          </a:p>
          <a:p>
            <a:pPr>
              <a:buFont typeface="Arial" panose="020B0604020202020204" pitchFamily="34" charset="0"/>
              <a:buChar char="•"/>
            </a:pPr>
            <a:r>
              <a:rPr lang="en-US" dirty="0"/>
              <a:t>Visual Effect: Creates a softer, more uniform appearance</a:t>
            </a:r>
          </a:p>
          <a:p>
            <a:pPr>
              <a:buFont typeface="Arial" panose="020B0604020202020204" pitchFamily="34" charset="0"/>
              <a:buChar char="•"/>
            </a:pPr>
            <a:r>
              <a:rPr lang="en-US" dirty="0"/>
              <a:t>Trade-offs: May diminish semantic distinctiveness.</a:t>
            </a:r>
          </a:p>
          <a:p>
            <a:endParaRPr lang="en-US" dirty="0"/>
          </a:p>
          <a:p>
            <a:r>
              <a:rPr lang="en-US" b="1" dirty="0"/>
              <a:t>Low Frequency Phase Analysis</a:t>
            </a:r>
          </a:p>
          <a:p>
            <a:r>
              <a:rPr lang="en-US" b="1" dirty="0"/>
              <a:t>Characteristics of Low Frequency Phase</a:t>
            </a:r>
            <a:r>
              <a:rPr lang="en-US" dirty="0"/>
              <a:t>:</a:t>
            </a:r>
          </a:p>
          <a:p>
            <a:pPr>
              <a:buFont typeface="Arial" panose="020B0604020202020204" pitchFamily="34" charset="0"/>
              <a:buChar char="•"/>
            </a:pPr>
            <a:r>
              <a:rPr lang="en-US" dirty="0"/>
              <a:t>Encodes global spatial relationships and compositional structure</a:t>
            </a:r>
          </a:p>
          <a:p>
            <a:pPr>
              <a:buFont typeface="Arial" panose="020B0604020202020204" pitchFamily="34" charset="0"/>
              <a:buChar char="•"/>
            </a:pPr>
            <a:r>
              <a:rPr lang="en-US" dirty="0"/>
              <a:t>Determines overall layout and object positioning</a:t>
            </a:r>
          </a:p>
          <a:p>
            <a:pPr>
              <a:buFont typeface="Arial" panose="020B0604020202020204" pitchFamily="34" charset="0"/>
              <a:buChar char="•"/>
            </a:pPr>
            <a:r>
              <a:rPr lang="en-US" dirty="0"/>
              <a:t>Controls gradual transitions and smooth </a:t>
            </a:r>
            <a:r>
              <a:rPr lang="en-US" dirty="0" err="1"/>
              <a:t>colour</a:t>
            </a:r>
            <a:r>
              <a:rPr lang="en-US" dirty="0"/>
              <a:t> gradients</a:t>
            </a:r>
          </a:p>
          <a:p>
            <a:endParaRPr lang="en-IN" dirty="0"/>
          </a:p>
        </p:txBody>
      </p:sp>
    </p:spTree>
    <p:extLst>
      <p:ext uri="{BB962C8B-B14F-4D97-AF65-F5344CB8AC3E}">
        <p14:creationId xmlns:p14="http://schemas.microsoft.com/office/powerpoint/2010/main" val="1141729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88828-DCBA-C6DF-D349-FE6A1E1544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E152F6C-73C3-883D-0979-5C03BE50C8BE}"/>
              </a:ext>
            </a:extLst>
          </p:cNvPr>
          <p:cNvSpPr>
            <a:spLocks noGrp="1"/>
          </p:cNvSpPr>
          <p:nvPr>
            <p:ph idx="1"/>
          </p:nvPr>
        </p:nvSpPr>
        <p:spPr/>
        <p:txBody>
          <a:bodyPr/>
          <a:lstStyle/>
          <a:p>
            <a:r>
              <a:rPr lang="en-US" b="1" dirty="0"/>
              <a:t>Effects of Scaling Low Frequency Phase:</a:t>
            </a:r>
          </a:p>
          <a:p>
            <a:pPr>
              <a:buFont typeface="Arial" panose="020B0604020202020204" pitchFamily="34" charset="0"/>
              <a:buChar char="•"/>
            </a:pPr>
            <a:r>
              <a:rPr lang="en-US" dirty="0"/>
              <a:t>Structural Layout: Alters object positions and spatial arrangements. </a:t>
            </a:r>
          </a:p>
          <a:p>
            <a:pPr>
              <a:buFont typeface="Arial" panose="020B0604020202020204" pitchFamily="34" charset="0"/>
              <a:buChar char="•"/>
            </a:pPr>
            <a:r>
              <a:rPr lang="en-US" dirty="0"/>
              <a:t>Semantic Diversity: Generates varied compositions from identical prompts. </a:t>
            </a:r>
          </a:p>
          <a:p>
            <a:pPr>
              <a:buFont typeface="Arial" panose="020B0604020202020204" pitchFamily="34" charset="0"/>
              <a:buChar char="•"/>
            </a:pPr>
            <a:r>
              <a:rPr lang="en-US" dirty="0"/>
              <a:t>Text Alignment: Can improve or modify semantic correspondence. </a:t>
            </a:r>
          </a:p>
          <a:p>
            <a:pPr>
              <a:buFont typeface="Arial" panose="020B0604020202020204" pitchFamily="34" charset="0"/>
              <a:buChar char="•"/>
            </a:pPr>
            <a:r>
              <a:rPr lang="en-US" dirty="0"/>
              <a:t>Applications: Layout variation, compositional diversity, artistic interpretation</a:t>
            </a:r>
            <a:endParaRPr lang="en-IN" dirty="0"/>
          </a:p>
        </p:txBody>
      </p:sp>
    </p:spTree>
    <p:extLst>
      <p:ext uri="{BB962C8B-B14F-4D97-AF65-F5344CB8AC3E}">
        <p14:creationId xmlns:p14="http://schemas.microsoft.com/office/powerpoint/2010/main" val="2529030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59E2C-6400-63B5-FDAB-EA98B1E63D33}"/>
              </a:ext>
            </a:extLst>
          </p:cNvPr>
          <p:cNvSpPr>
            <a:spLocks noGrp="1"/>
          </p:cNvSpPr>
          <p:nvPr>
            <p:ph type="title"/>
          </p:nvPr>
        </p:nvSpPr>
        <p:spPr>
          <a:xfrm>
            <a:off x="1097280" y="286604"/>
            <a:ext cx="10058400" cy="1948596"/>
          </a:xfrm>
        </p:spPr>
        <p:txBody>
          <a:bodyPr>
            <a:normAutofit fontScale="90000"/>
          </a:bodyPr>
          <a:lstStyle/>
          <a:p>
            <a:pPr algn="ctr"/>
            <a:br>
              <a:rPr lang="en-IN" dirty="0"/>
            </a:br>
            <a:br>
              <a:rPr lang="en-IN" dirty="0"/>
            </a:br>
            <a:br>
              <a:rPr lang="en-IN" dirty="0"/>
            </a:br>
            <a:r>
              <a:rPr lang="en-IN" dirty="0"/>
              <a:t>High Frequency Components Scaling </a:t>
            </a:r>
            <a:br>
              <a:rPr lang="en-IN" dirty="0"/>
            </a:br>
            <a:endParaRPr lang="en-IN" dirty="0"/>
          </a:p>
        </p:txBody>
      </p:sp>
      <p:sp>
        <p:nvSpPr>
          <p:cNvPr id="3" name="Content Placeholder 2">
            <a:extLst>
              <a:ext uri="{FF2B5EF4-FFF2-40B4-BE49-F238E27FC236}">
                <a16:creationId xmlns:a16="http://schemas.microsoft.com/office/drawing/2014/main" id="{8AC5DC48-075B-BC3D-BE4C-C5D5FC0AE007}"/>
              </a:ext>
            </a:extLst>
          </p:cNvPr>
          <p:cNvSpPr>
            <a:spLocks noGrp="1"/>
          </p:cNvSpPr>
          <p:nvPr>
            <p:ph idx="1"/>
          </p:nvPr>
        </p:nvSpPr>
        <p:spPr>
          <a:xfrm>
            <a:off x="1097280" y="1777999"/>
            <a:ext cx="10058400" cy="4453467"/>
          </a:xfrm>
        </p:spPr>
        <p:txBody>
          <a:bodyPr>
            <a:normAutofit lnSpcReduction="10000"/>
          </a:bodyPr>
          <a:lstStyle/>
          <a:p>
            <a:r>
              <a:rPr lang="en-US" b="1" dirty="0"/>
              <a:t>Characteristics of High Frequency Amplitude</a:t>
            </a:r>
            <a:r>
              <a:rPr lang="en-US" dirty="0"/>
              <a:t>:</a:t>
            </a:r>
          </a:p>
          <a:p>
            <a:pPr>
              <a:buFont typeface="Arial" panose="020B0604020202020204" pitchFamily="34" charset="0"/>
              <a:buChar char="•"/>
            </a:pPr>
            <a:r>
              <a:rPr lang="en-US" dirty="0"/>
              <a:t>Represents edge strength and detail sharpness</a:t>
            </a:r>
          </a:p>
          <a:p>
            <a:pPr>
              <a:buFont typeface="Arial" panose="020B0604020202020204" pitchFamily="34" charset="0"/>
              <a:buChar char="•"/>
            </a:pPr>
            <a:r>
              <a:rPr lang="en-US" dirty="0"/>
              <a:t>Controls fine texture visibility and surface detail</a:t>
            </a:r>
          </a:p>
          <a:p>
            <a:pPr>
              <a:buFont typeface="Arial" panose="020B0604020202020204" pitchFamily="34" charset="0"/>
              <a:buChar char="•"/>
            </a:pPr>
            <a:r>
              <a:rPr lang="en-US" dirty="0"/>
              <a:t>Influences perceived image resolution and clarity</a:t>
            </a:r>
          </a:p>
          <a:p>
            <a:r>
              <a:rPr lang="en-US" b="1" dirty="0"/>
              <a:t>Effects of Scaling High Frequency Amplitude:</a:t>
            </a:r>
            <a:endParaRPr lang="en-US" dirty="0"/>
          </a:p>
          <a:p>
            <a:r>
              <a:rPr lang="en-US" b="1" dirty="0"/>
              <a:t>Increasing HF Amplitude</a:t>
            </a:r>
            <a:r>
              <a:rPr lang="en-US" dirty="0"/>
              <a:t>:</a:t>
            </a:r>
          </a:p>
          <a:p>
            <a:pPr>
              <a:buFont typeface="Arial" panose="020B0604020202020204" pitchFamily="34" charset="0"/>
              <a:buChar char="•"/>
            </a:pPr>
            <a:r>
              <a:rPr lang="en-US" dirty="0"/>
              <a:t>Visual Clarity: Significantly enhances edge definition and detail visibility</a:t>
            </a:r>
          </a:p>
          <a:p>
            <a:pPr>
              <a:buFont typeface="Arial" panose="020B0604020202020204" pitchFamily="34" charset="0"/>
              <a:buChar char="•"/>
            </a:pPr>
            <a:r>
              <a:rPr lang="en-US" dirty="0"/>
              <a:t>Texture Quality: Improves surface texture richness and complexity</a:t>
            </a:r>
          </a:p>
          <a:p>
            <a:pPr>
              <a:buFont typeface="Arial" panose="020B0604020202020204" pitchFamily="34" charset="0"/>
              <a:buChar char="•"/>
            </a:pPr>
            <a:r>
              <a:rPr lang="en-US" dirty="0"/>
              <a:t>Semantic Expression: Strengthens object boundaries and feature distinctiveness</a:t>
            </a:r>
          </a:p>
          <a:p>
            <a:pPr>
              <a:buFont typeface="Arial" panose="020B0604020202020204" pitchFamily="34" charset="0"/>
              <a:buChar char="•"/>
            </a:pPr>
            <a:r>
              <a:rPr lang="en-US" dirty="0"/>
              <a:t>Applications: Detail enhancement, sharpness improvement, high-definition rendering</a:t>
            </a:r>
          </a:p>
          <a:p>
            <a:endParaRPr lang="en-IN" dirty="0"/>
          </a:p>
        </p:txBody>
      </p:sp>
    </p:spTree>
    <p:extLst>
      <p:ext uri="{BB962C8B-B14F-4D97-AF65-F5344CB8AC3E}">
        <p14:creationId xmlns:p14="http://schemas.microsoft.com/office/powerpoint/2010/main" val="366263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21AEE-9701-1C4A-0D8E-2D5B573330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45C27AC-D9AA-2DBF-EEBF-AA12FB0B38CB}"/>
              </a:ext>
            </a:extLst>
          </p:cNvPr>
          <p:cNvSpPr>
            <a:spLocks noGrp="1"/>
          </p:cNvSpPr>
          <p:nvPr>
            <p:ph idx="1"/>
          </p:nvPr>
        </p:nvSpPr>
        <p:spPr/>
        <p:txBody>
          <a:bodyPr/>
          <a:lstStyle/>
          <a:p>
            <a:r>
              <a:rPr lang="en-US" b="1" dirty="0"/>
              <a:t>Reducing HF Amplitude:</a:t>
            </a:r>
          </a:p>
          <a:p>
            <a:pPr>
              <a:buFont typeface="Arial" panose="020B0604020202020204" pitchFamily="34" charset="0"/>
              <a:buChar char="•"/>
            </a:pPr>
            <a:r>
              <a:rPr lang="en-US" dirty="0"/>
              <a:t>Visual Effect: Smooths transitions, reduces noise.</a:t>
            </a:r>
          </a:p>
          <a:p>
            <a:pPr>
              <a:buFont typeface="Arial" panose="020B0604020202020204" pitchFamily="34" charset="0"/>
              <a:buChar char="•"/>
            </a:pPr>
            <a:r>
              <a:rPr lang="en-US" dirty="0"/>
              <a:t> Applications: Artistic softening, noise reduction. </a:t>
            </a:r>
          </a:p>
          <a:p>
            <a:pPr>
              <a:buFont typeface="Arial" panose="020B0604020202020204" pitchFamily="34" charset="0"/>
              <a:buChar char="•"/>
            </a:pPr>
            <a:r>
              <a:rPr lang="en-US" dirty="0"/>
              <a:t>Limitation: May sacrifice detail and clarity.</a:t>
            </a:r>
          </a:p>
          <a:p>
            <a:r>
              <a:rPr lang="en-US" b="1" dirty="0"/>
              <a:t>High Frequency Phase Analysis</a:t>
            </a:r>
          </a:p>
          <a:p>
            <a:r>
              <a:rPr lang="en-US" b="1" dirty="0"/>
              <a:t>Characteristics of High Frequency Phase</a:t>
            </a:r>
            <a:r>
              <a:rPr lang="en-US" dirty="0"/>
              <a:t>:</a:t>
            </a:r>
          </a:p>
          <a:p>
            <a:pPr>
              <a:buFont typeface="Arial" panose="020B0604020202020204" pitchFamily="34" charset="0"/>
              <a:buChar char="•"/>
            </a:pPr>
            <a:r>
              <a:rPr lang="en-US" dirty="0"/>
              <a:t>Encodes precise edge locations and fine structural details</a:t>
            </a:r>
          </a:p>
          <a:p>
            <a:pPr>
              <a:buFont typeface="Arial" panose="020B0604020202020204" pitchFamily="34" charset="0"/>
              <a:buChar char="•"/>
            </a:pPr>
            <a:r>
              <a:rPr lang="en-US" dirty="0"/>
              <a:t>Determines texture pattern orientation and alignment</a:t>
            </a:r>
          </a:p>
          <a:p>
            <a:pPr>
              <a:buFont typeface="Arial" panose="020B0604020202020204" pitchFamily="34" charset="0"/>
              <a:buChar char="•"/>
            </a:pPr>
            <a:r>
              <a:rPr lang="en-US" dirty="0"/>
              <a:t>Critical for maintaining structural coherence at the detail level</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1193858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F319-0CE9-6715-590E-02568F1DA7F8}"/>
              </a:ext>
            </a:extLst>
          </p:cNvPr>
          <p:cNvSpPr>
            <a:spLocks noGrp="1"/>
          </p:cNvSpPr>
          <p:nvPr>
            <p:ph type="title"/>
          </p:nvPr>
        </p:nvSpPr>
        <p:spPr/>
        <p:txBody>
          <a:bodyPr>
            <a:normAutofit fontScale="90000"/>
          </a:bodyPr>
          <a:lstStyle/>
          <a:p>
            <a:r>
              <a:rPr lang="en-IN" dirty="0"/>
              <a:t>Why does applying FFT sometimes changes the details of the image completely?</a:t>
            </a:r>
          </a:p>
        </p:txBody>
      </p:sp>
      <p:sp>
        <p:nvSpPr>
          <p:cNvPr id="3" name="Content Placeholder 2">
            <a:extLst>
              <a:ext uri="{FF2B5EF4-FFF2-40B4-BE49-F238E27FC236}">
                <a16:creationId xmlns:a16="http://schemas.microsoft.com/office/drawing/2014/main" id="{48A9E995-149A-F44D-2FC3-7E116ED8A97E}"/>
              </a:ext>
            </a:extLst>
          </p:cNvPr>
          <p:cNvSpPr>
            <a:spLocks noGrp="1"/>
          </p:cNvSpPr>
          <p:nvPr>
            <p:ph idx="1"/>
          </p:nvPr>
        </p:nvSpPr>
        <p:spPr/>
        <p:txBody>
          <a:bodyPr>
            <a:normAutofit/>
          </a:bodyPr>
          <a:lstStyle/>
          <a:p>
            <a:pPr>
              <a:buFont typeface="Arial" panose="020B0604020202020204" pitchFamily="34" charset="0"/>
              <a:buChar char="•"/>
            </a:pPr>
            <a:r>
              <a:rPr lang="en-US" dirty="0"/>
              <a:t>FFT globally changes the image, not just around one pixel, so that a small tweak can have a big visible effect.</a:t>
            </a:r>
          </a:p>
          <a:p>
            <a:pPr>
              <a:buFont typeface="Arial" panose="020B0604020202020204" pitchFamily="34" charset="0"/>
              <a:buChar char="•"/>
            </a:pPr>
            <a:r>
              <a:rPr lang="en-US" dirty="0"/>
              <a:t>Changing the phase changes where edges and shapes appear, allowing objects to shift or deform.</a:t>
            </a:r>
          </a:p>
          <a:p>
            <a:pPr>
              <a:buFont typeface="Arial" panose="020B0604020202020204" pitchFamily="34" charset="0"/>
              <a:buChar char="•"/>
            </a:pPr>
            <a:r>
              <a:rPr lang="en-US" dirty="0"/>
              <a:t>Changing low frequencies too much can affect the overall layout, big shapes, and brightness of the image.</a:t>
            </a:r>
          </a:p>
          <a:p>
            <a:pPr>
              <a:buFont typeface="Arial" panose="020B0604020202020204" pitchFamily="34" charset="0"/>
              <a:buChar char="•"/>
            </a:pPr>
            <a:r>
              <a:rPr lang="en-US" dirty="0"/>
              <a:t>Changing high frequencies too much can either destroy fine details or create harsh, noisy artefacts.</a:t>
            </a:r>
          </a:p>
          <a:p>
            <a:pPr>
              <a:buFont typeface="Arial" panose="020B0604020202020204" pitchFamily="34" charset="0"/>
              <a:buChar char="•"/>
            </a:pPr>
            <a:r>
              <a:rPr lang="en-US" dirty="0"/>
              <a:t>In a diffusion model, these changes are made to internal features and then amplified by subsequent denoising steps so that small spectral edits can result in completely different-looking details in the final image.</a:t>
            </a:r>
            <a:endParaRPr lang="en-IN" dirty="0"/>
          </a:p>
        </p:txBody>
      </p:sp>
    </p:spTree>
    <p:extLst>
      <p:ext uri="{BB962C8B-B14F-4D97-AF65-F5344CB8AC3E}">
        <p14:creationId xmlns:p14="http://schemas.microsoft.com/office/powerpoint/2010/main" val="1879728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204F94-4407-41BD-46A8-F65B354D4BA3}"/>
              </a:ext>
            </a:extLst>
          </p:cNvPr>
          <p:cNvPicPr>
            <a:picLocks noChangeAspect="1"/>
          </p:cNvPicPr>
          <p:nvPr/>
        </p:nvPicPr>
        <p:blipFill>
          <a:blip r:embed="rId2"/>
          <a:stretch>
            <a:fillRect/>
          </a:stretch>
        </p:blipFill>
        <p:spPr>
          <a:xfrm>
            <a:off x="0" y="0"/>
            <a:ext cx="11819467" cy="5808133"/>
          </a:xfrm>
          <a:prstGeom prst="rect">
            <a:avLst/>
          </a:prstGeom>
        </p:spPr>
      </p:pic>
    </p:spTree>
    <p:extLst>
      <p:ext uri="{BB962C8B-B14F-4D97-AF65-F5344CB8AC3E}">
        <p14:creationId xmlns:p14="http://schemas.microsoft.com/office/powerpoint/2010/main" val="3855813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A4C89-5E30-8A12-1743-FC3D049243A9}"/>
              </a:ext>
            </a:extLst>
          </p:cNvPr>
          <p:cNvSpPr>
            <a:spLocks noGrp="1"/>
          </p:cNvSpPr>
          <p:nvPr>
            <p:ph type="title"/>
          </p:nvPr>
        </p:nvSpPr>
        <p:spPr/>
        <p:txBody>
          <a:bodyPr/>
          <a:lstStyle/>
          <a:p>
            <a:r>
              <a:rPr lang="en-IN" dirty="0"/>
              <a:t>System Pipeline</a:t>
            </a:r>
          </a:p>
        </p:txBody>
      </p:sp>
      <p:sp>
        <p:nvSpPr>
          <p:cNvPr id="3" name="Content Placeholder 2">
            <a:extLst>
              <a:ext uri="{FF2B5EF4-FFF2-40B4-BE49-F238E27FC236}">
                <a16:creationId xmlns:a16="http://schemas.microsoft.com/office/drawing/2014/main" id="{2D5A2DC6-B3FB-862B-8050-7F482BFDCA1E}"/>
              </a:ext>
            </a:extLst>
          </p:cNvPr>
          <p:cNvSpPr>
            <a:spLocks noGrp="1"/>
          </p:cNvSpPr>
          <p:nvPr>
            <p:ph idx="1"/>
          </p:nvPr>
        </p:nvSpPr>
        <p:spPr>
          <a:xfrm>
            <a:off x="1097280" y="1828801"/>
            <a:ext cx="10058400" cy="4023360"/>
          </a:xfrm>
        </p:spPr>
        <p:txBody>
          <a:bodyPr/>
          <a:lstStyle/>
          <a:p>
            <a:pPr lvl="1"/>
            <a:r>
              <a:rPr lang="en-US" dirty="0"/>
              <a:t>User Input: User types a text prompt. Example: "a lighthouse during a storm“</a:t>
            </a:r>
          </a:p>
          <a:p>
            <a:pPr lvl="1"/>
            <a:r>
              <a:rPr lang="en-US" dirty="0"/>
              <a:t>The </a:t>
            </a:r>
            <a:r>
              <a:rPr lang="en-US" dirty="0" err="1"/>
              <a:t>Tokenisation</a:t>
            </a:r>
            <a:r>
              <a:rPr lang="en-US" dirty="0"/>
              <a:t>: CLIP </a:t>
            </a:r>
            <a:r>
              <a:rPr lang="en-US" dirty="0" err="1"/>
              <a:t>tokeniser</a:t>
            </a:r>
            <a:r>
              <a:rPr lang="en-US" dirty="0"/>
              <a:t> converts the prompt into integer token IDs. Padded or truncated to exactly 77 tokens.</a:t>
            </a:r>
          </a:p>
          <a:p>
            <a:pPr lvl="1"/>
            <a:r>
              <a:rPr lang="en-US" dirty="0"/>
              <a:t>Text Encoding 77 token IDs pass through the CLIP Text Encoder (12-layer Transformer). Output: text embedding a rich numerical description of the prompt’s meaning. This tensor guides every single denoising step.</a:t>
            </a:r>
          </a:p>
          <a:p>
            <a:pPr lvl="1"/>
            <a:r>
              <a:rPr lang="en-IN" dirty="0"/>
              <a:t>Latent Initialisation: A VAE compresses images spatially, so the model works in latent space, not pixel space. Starting latent is pure Gaussian random noise. </a:t>
            </a:r>
          </a:p>
          <a:p>
            <a:pPr lvl="1"/>
            <a:r>
              <a:rPr lang="en-US" dirty="0"/>
              <a:t>Denoising Loop (runs 25 times):</a:t>
            </a:r>
          </a:p>
          <a:p>
            <a:pPr marL="201168" lvl="1" indent="0">
              <a:buNone/>
            </a:pPr>
            <a:r>
              <a:rPr lang="en-US" dirty="0"/>
              <a:t>	1.  Each timestep, </a:t>
            </a:r>
            <a:r>
              <a:rPr lang="en-US" dirty="0" err="1"/>
              <a:t>UNet</a:t>
            </a:r>
            <a:r>
              <a:rPr lang="en-US" dirty="0"/>
              <a:t> takes the current noisy latent + text embedding</a:t>
            </a:r>
          </a:p>
          <a:p>
            <a:pPr marL="201168" lvl="1" indent="0">
              <a:buNone/>
            </a:pPr>
            <a:r>
              <a:rPr lang="en-US" dirty="0"/>
              <a:t>	2. Predicts the noise added to that latent </a:t>
            </a:r>
          </a:p>
          <a:p>
            <a:pPr marL="201168" lvl="1" indent="0">
              <a:buNone/>
            </a:pPr>
            <a:r>
              <a:rPr lang="en-US" dirty="0"/>
              <a:t>	3. Scheduler subtracts the predicted noise → slightly cleaner latent </a:t>
            </a:r>
          </a:p>
          <a:p>
            <a:pPr marL="201168" lvl="1" indent="0">
              <a:buNone/>
            </a:pPr>
            <a:r>
              <a:rPr lang="en-US" dirty="0"/>
              <a:t>	4. DMFFT fires inside the </a:t>
            </a:r>
            <a:r>
              <a:rPr lang="en-US" dirty="0" err="1"/>
              <a:t>UNet</a:t>
            </a:r>
            <a:r>
              <a:rPr lang="en-US" dirty="0"/>
              <a:t> at every one of these 25 steps</a:t>
            </a:r>
            <a:endParaRPr lang="en-IN" dirty="0"/>
          </a:p>
        </p:txBody>
      </p:sp>
    </p:spTree>
    <p:extLst>
      <p:ext uri="{BB962C8B-B14F-4D97-AF65-F5344CB8AC3E}">
        <p14:creationId xmlns:p14="http://schemas.microsoft.com/office/powerpoint/2010/main" val="348808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25DE6-6AF6-A327-00C4-0E02CC09B60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2D40FB-7476-1F78-512E-FD7253F91B78}"/>
              </a:ext>
            </a:extLst>
          </p:cNvPr>
          <p:cNvSpPr>
            <a:spLocks noGrp="1"/>
          </p:cNvSpPr>
          <p:nvPr>
            <p:ph idx="1"/>
          </p:nvPr>
        </p:nvSpPr>
        <p:spPr/>
        <p:txBody>
          <a:bodyPr/>
          <a:lstStyle/>
          <a:p>
            <a:pPr>
              <a:buFont typeface="Courier New" panose="02070309020205020404" pitchFamily="49" charset="0"/>
              <a:buChar char="o"/>
            </a:pPr>
            <a:r>
              <a:rPr lang="en-IN" dirty="0"/>
              <a:t>SD v1-5 </a:t>
            </a:r>
            <a:r>
              <a:rPr lang="en-IN" dirty="0" err="1"/>
              <a:t>UNet</a:t>
            </a:r>
            <a:r>
              <a:rPr lang="en-IN" dirty="0"/>
              <a:t> has 4 decoder blocks:</a:t>
            </a:r>
          </a:p>
          <a:p>
            <a:pPr marL="201168" lvl="1" indent="0">
              <a:buNone/>
            </a:pPr>
            <a:r>
              <a:rPr lang="en-IN" dirty="0" err="1"/>
              <a:t>up_blocks</a:t>
            </a:r>
            <a:r>
              <a:rPr lang="en-IN" dirty="0"/>
              <a:t>[0] — </a:t>
            </a:r>
            <a:r>
              <a:rPr lang="en-IN" dirty="0" err="1"/>
              <a:t>UpBlock</a:t>
            </a:r>
            <a:r>
              <a:rPr lang="en-IN" dirty="0"/>
              <a:t>, no cross-attention</a:t>
            </a:r>
          </a:p>
          <a:p>
            <a:pPr marL="201168" lvl="1" indent="0">
              <a:buNone/>
            </a:pPr>
            <a:r>
              <a:rPr lang="en-IN" dirty="0" err="1"/>
              <a:t>up_blocks</a:t>
            </a:r>
            <a:r>
              <a:rPr lang="en-IN" dirty="0"/>
              <a:t>[1] — </a:t>
            </a:r>
            <a:r>
              <a:rPr lang="en-IN" dirty="0" err="1"/>
              <a:t>CrossAttnUpBlock</a:t>
            </a:r>
            <a:r>
              <a:rPr lang="en-IN" dirty="0"/>
              <a:t>, cross-attention 1</a:t>
            </a:r>
          </a:p>
          <a:p>
            <a:pPr marL="201168" lvl="1" indent="0">
              <a:buNone/>
            </a:pPr>
            <a:r>
              <a:rPr lang="en-IN" dirty="0" err="1"/>
              <a:t>up_blocks</a:t>
            </a:r>
            <a:r>
              <a:rPr lang="en-IN" dirty="0"/>
              <a:t>[2] — </a:t>
            </a:r>
            <a:r>
              <a:rPr lang="en-IN" dirty="0" err="1"/>
              <a:t>CrossAttnUpBlock</a:t>
            </a:r>
            <a:r>
              <a:rPr lang="en-IN" dirty="0"/>
              <a:t>, cross-attention 2</a:t>
            </a:r>
          </a:p>
          <a:p>
            <a:pPr marL="201168" lvl="1" indent="0">
              <a:buNone/>
            </a:pPr>
            <a:r>
              <a:rPr lang="en-IN" dirty="0" err="1"/>
              <a:t>up_blocks</a:t>
            </a:r>
            <a:r>
              <a:rPr lang="en-IN" dirty="0"/>
              <a:t>[3] — </a:t>
            </a:r>
            <a:r>
              <a:rPr lang="en-IN" dirty="0" err="1"/>
              <a:t>CrossAttnUpBlock</a:t>
            </a:r>
            <a:r>
              <a:rPr lang="en-IN" dirty="0"/>
              <a:t>, cross-attention 3, DMFFT patches here</a:t>
            </a:r>
          </a:p>
          <a:p>
            <a:pPr>
              <a:buFont typeface="Courier New" panose="02070309020205020404" pitchFamily="49" charset="0"/>
              <a:buChar char="o"/>
            </a:pPr>
            <a:r>
              <a:rPr lang="en-US" dirty="0"/>
              <a:t>The function counts </a:t>
            </a:r>
            <a:r>
              <a:rPr lang="en-US" dirty="0" err="1"/>
              <a:t>CrossAttnUpBlocks</a:t>
            </a:r>
            <a:r>
              <a:rPr lang="en-US" dirty="0"/>
              <a:t>, and when it reaches the 3rd one, it replaces the block forward with our custom FFT-injected version at runtime. All DMFFT parameters are stamped onto the block object via _</a:t>
            </a:r>
            <a:r>
              <a:rPr lang="en-US" dirty="0" err="1"/>
              <a:t>set_attrs</a:t>
            </a:r>
            <a:r>
              <a:rPr lang="en-US" dirty="0"/>
              <a:t>() before the replacement, so the closure can read them immediately on the first call. </a:t>
            </a:r>
            <a:r>
              <a:rPr lang="en-US" dirty="0" err="1"/>
              <a:t>use_fft</a:t>
            </a:r>
            <a:r>
              <a:rPr lang="en-US" dirty="0"/>
              <a:t>=False, FFT logic is skipped (baseline run). </a:t>
            </a:r>
            <a:r>
              <a:rPr lang="en-US" dirty="0" err="1"/>
              <a:t>use_fft</a:t>
            </a:r>
            <a:r>
              <a:rPr lang="en-US" dirty="0"/>
              <a:t>=True, FFT logic fires (DMFFT run).</a:t>
            </a:r>
            <a:endParaRPr lang="en-IN" dirty="0"/>
          </a:p>
        </p:txBody>
      </p:sp>
    </p:spTree>
    <p:extLst>
      <p:ext uri="{BB962C8B-B14F-4D97-AF65-F5344CB8AC3E}">
        <p14:creationId xmlns:p14="http://schemas.microsoft.com/office/powerpoint/2010/main" val="2202735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42F4A-9E6A-9FCB-F3EA-4931CC6BCE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B1625F-73AB-6203-ABF2-7EF5161F7DA1}"/>
              </a:ext>
            </a:extLst>
          </p:cNvPr>
          <p:cNvSpPr>
            <a:spLocks noGrp="1"/>
          </p:cNvSpPr>
          <p:nvPr>
            <p:ph idx="1"/>
          </p:nvPr>
        </p:nvSpPr>
        <p:spPr/>
        <p:txBody>
          <a:bodyPr/>
          <a:lstStyle/>
          <a:p>
            <a:pPr marL="0" indent="0">
              <a:buNone/>
            </a:pPr>
            <a:r>
              <a:rPr lang="en-US" dirty="0"/>
              <a:t>Each sub-layer has two feature tensors at the intercept point:</a:t>
            </a:r>
          </a:p>
          <a:p>
            <a:pPr marL="201168" lvl="1" indent="0">
              <a:buNone/>
            </a:pPr>
            <a:r>
              <a:rPr lang="en-US" dirty="0"/>
              <a:t>1. Backbone: the running image reconstruction coming from deeper layers</a:t>
            </a:r>
          </a:p>
          <a:p>
            <a:pPr marL="201168" lvl="1" indent="0">
              <a:buNone/>
            </a:pPr>
            <a:r>
              <a:rPr lang="en-US" dirty="0"/>
              <a:t>2. Skip connection: spatial detail preserved from the matching encoder stage, popped from a tuple</a:t>
            </a:r>
          </a:p>
          <a:p>
            <a:pPr marL="201168" lvl="1" indent="0">
              <a:buNone/>
            </a:pPr>
            <a:r>
              <a:rPr lang="en-US" dirty="0"/>
              <a:t>3. DMFFT modifies both before they are concatenated and passed forward.</a:t>
            </a:r>
          </a:p>
          <a:p>
            <a:pPr marL="201168" lvl="1" indent="0">
              <a:buNone/>
            </a:pPr>
            <a:endParaRPr lang="en-US" dirty="0"/>
          </a:p>
          <a:p>
            <a:pPr marL="201168" lvl="1" indent="0">
              <a:buNone/>
            </a:pPr>
            <a:r>
              <a:rPr lang="en-US" dirty="0"/>
              <a:t>FFT functions:</a:t>
            </a:r>
          </a:p>
          <a:p>
            <a:pPr marL="201168" lvl="1" indent="0">
              <a:buNone/>
            </a:pPr>
            <a:r>
              <a:rPr lang="en-US" dirty="0"/>
              <a:t>Converts the skip connection to the frequency domain using 2D FFT. Shifts the spectrum so that low frequencies sit at the </a:t>
            </a:r>
            <a:r>
              <a:rPr lang="en-US" dirty="0" err="1"/>
              <a:t>centre</a:t>
            </a:r>
            <a:r>
              <a:rPr lang="en-US" dirty="0"/>
              <a:t>. Scales down only the </a:t>
            </a:r>
            <a:r>
              <a:rPr lang="en-US" dirty="0" err="1"/>
              <a:t>centre</a:t>
            </a:r>
            <a:r>
              <a:rPr lang="en-US" dirty="0"/>
              <a:t> region using a mask, leaving all high-frequency bins untouched. The inverse FFT converts it back to the spatial domain.</a:t>
            </a:r>
          </a:p>
          <a:p>
            <a:pPr marL="201168" lvl="1" indent="0">
              <a:buNone/>
            </a:pPr>
            <a:r>
              <a:rPr lang="en-US" dirty="0"/>
              <a:t>Does the same FFT and shift, but then splits the spectrum into amplitude and phase separately. Scales them independently based on the chosen blend mode — targeting LF, HF, or both. Reconstructs the complex spectrum from the modified amplitude and phase, then inverse FFT brings it back.</a:t>
            </a:r>
          </a:p>
        </p:txBody>
      </p:sp>
    </p:spTree>
    <p:extLst>
      <p:ext uri="{BB962C8B-B14F-4D97-AF65-F5344CB8AC3E}">
        <p14:creationId xmlns:p14="http://schemas.microsoft.com/office/powerpoint/2010/main" val="3067030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8485C-0F6A-030A-C163-2A2136A974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365268C-D67B-EE2D-5B55-70D60FC43586}"/>
              </a:ext>
            </a:extLst>
          </p:cNvPr>
          <p:cNvSpPr>
            <a:spLocks noGrp="1"/>
          </p:cNvSpPr>
          <p:nvPr>
            <p:ph idx="1"/>
          </p:nvPr>
        </p:nvSpPr>
        <p:spPr/>
        <p:txBody>
          <a:bodyPr/>
          <a:lstStyle/>
          <a:p>
            <a:r>
              <a:rPr lang="en-US" dirty="0"/>
              <a:t>After 25 denoising steps, the final clean latent is passed through the VAE decoder. Expands back to a full 512×512 RGB image.</a:t>
            </a:r>
          </a:p>
          <a:p>
            <a:endParaRPr lang="en-IN" dirty="0"/>
          </a:p>
        </p:txBody>
      </p:sp>
    </p:spTree>
    <p:extLst>
      <p:ext uri="{BB962C8B-B14F-4D97-AF65-F5344CB8AC3E}">
        <p14:creationId xmlns:p14="http://schemas.microsoft.com/office/powerpoint/2010/main" val="1539036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3D0B31-72BB-1FDA-7D0D-5CF9420B3DBF}"/>
              </a:ext>
            </a:extLst>
          </p:cNvPr>
          <p:cNvPicPr>
            <a:picLocks noChangeAspect="1"/>
          </p:cNvPicPr>
          <p:nvPr/>
        </p:nvPicPr>
        <p:blipFill>
          <a:blip r:embed="rId2"/>
          <a:stretch>
            <a:fillRect/>
          </a:stretch>
        </p:blipFill>
        <p:spPr>
          <a:xfrm>
            <a:off x="923834" y="1061090"/>
            <a:ext cx="9584640" cy="4735819"/>
          </a:xfrm>
          <a:prstGeom prst="rect">
            <a:avLst/>
          </a:prstGeom>
        </p:spPr>
      </p:pic>
    </p:spTree>
    <p:extLst>
      <p:ext uri="{BB962C8B-B14F-4D97-AF65-F5344CB8AC3E}">
        <p14:creationId xmlns:p14="http://schemas.microsoft.com/office/powerpoint/2010/main" val="2965279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42DA-23AA-CD71-04A4-34371D393E50}"/>
              </a:ext>
            </a:extLst>
          </p:cNvPr>
          <p:cNvSpPr>
            <a:spLocks noGrp="1"/>
          </p:cNvSpPr>
          <p:nvPr>
            <p:ph type="title"/>
          </p:nvPr>
        </p:nvSpPr>
        <p:spPr/>
        <p:txBody>
          <a:bodyPr/>
          <a:lstStyle/>
          <a:p>
            <a:r>
              <a:rPr lang="en-IN" dirty="0"/>
              <a:t>System Overview</a:t>
            </a:r>
          </a:p>
        </p:txBody>
      </p:sp>
      <p:sp>
        <p:nvSpPr>
          <p:cNvPr id="3" name="Content Placeholder 2">
            <a:extLst>
              <a:ext uri="{FF2B5EF4-FFF2-40B4-BE49-F238E27FC236}">
                <a16:creationId xmlns:a16="http://schemas.microsoft.com/office/drawing/2014/main" id="{94757C69-464A-99D5-3CFD-C1209F90E3D0}"/>
              </a:ext>
            </a:extLst>
          </p:cNvPr>
          <p:cNvSpPr>
            <a:spLocks noGrp="1"/>
          </p:cNvSpPr>
          <p:nvPr>
            <p:ph idx="1"/>
          </p:nvPr>
        </p:nvSpPr>
        <p:spPr/>
        <p:txBody>
          <a:bodyPr/>
          <a:lstStyle/>
          <a:p>
            <a:pPr marL="0" indent="0">
              <a:buNone/>
            </a:pPr>
            <a:r>
              <a:rPr lang="en-US" dirty="0"/>
              <a:t>Step 1: User types a text prompt.</a:t>
            </a:r>
          </a:p>
          <a:p>
            <a:pPr marL="0" indent="0">
              <a:buNone/>
            </a:pPr>
            <a:r>
              <a:rPr lang="en-US" dirty="0"/>
              <a:t> Step 2: Text is encoded into a numerical vector (CLIP encoder) </a:t>
            </a:r>
          </a:p>
          <a:p>
            <a:pPr marL="0" indent="0">
              <a:buNone/>
            </a:pPr>
            <a:r>
              <a:rPr lang="en-US" dirty="0"/>
              <a:t>Step 3: Random noise is created as the starting latent </a:t>
            </a:r>
          </a:p>
          <a:p>
            <a:pPr marL="0" indent="0">
              <a:buNone/>
            </a:pPr>
            <a:r>
              <a:rPr lang="en-US" dirty="0"/>
              <a:t>Step 4: </a:t>
            </a:r>
            <a:r>
              <a:rPr lang="en-US" dirty="0" err="1"/>
              <a:t>UNet</a:t>
            </a:r>
            <a:r>
              <a:rPr lang="en-US" dirty="0"/>
              <a:t> denoises over 25 steps, guided by the text </a:t>
            </a:r>
          </a:p>
          <a:p>
            <a:pPr marL="0" indent="0">
              <a:buNone/>
            </a:pPr>
            <a:r>
              <a:rPr lang="en-US" dirty="0"/>
              <a:t> Step 5: DMFFT intercepts inside the </a:t>
            </a:r>
            <a:r>
              <a:rPr lang="en-US" dirty="0" err="1"/>
              <a:t>UNet</a:t>
            </a:r>
            <a:r>
              <a:rPr lang="en-US" dirty="0"/>
              <a:t> at step 4, modifying the frequency content of feature maps </a:t>
            </a:r>
          </a:p>
          <a:p>
            <a:pPr marL="0" indent="0">
              <a:buNone/>
            </a:pPr>
            <a:r>
              <a:rPr lang="en-US" dirty="0"/>
              <a:t>Step 6: VAE decoder converts the final latent into a 512×512 image </a:t>
            </a:r>
          </a:p>
          <a:p>
            <a:pPr marL="0" indent="0">
              <a:buNone/>
            </a:pPr>
            <a:r>
              <a:rPr lang="en-US" dirty="0"/>
              <a:t>Step 7: Baseline (no FFT) and DMFFT results are saved side by side</a:t>
            </a:r>
            <a:endParaRPr lang="en-IN" dirty="0"/>
          </a:p>
        </p:txBody>
      </p:sp>
    </p:spTree>
    <p:extLst>
      <p:ext uri="{BB962C8B-B14F-4D97-AF65-F5344CB8AC3E}">
        <p14:creationId xmlns:p14="http://schemas.microsoft.com/office/powerpoint/2010/main" val="938277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6B345-8C02-57E0-1C0F-7B98E60FB297}"/>
              </a:ext>
            </a:extLst>
          </p:cNvPr>
          <p:cNvSpPr>
            <a:spLocks noGrp="1"/>
          </p:cNvSpPr>
          <p:nvPr>
            <p:ph type="title"/>
          </p:nvPr>
        </p:nvSpPr>
        <p:spPr/>
        <p:txBody>
          <a:bodyPr/>
          <a:lstStyle/>
          <a:p>
            <a:r>
              <a:rPr lang="en-IN" dirty="0"/>
              <a:t>Results </a:t>
            </a:r>
          </a:p>
        </p:txBody>
      </p:sp>
      <p:pic>
        <p:nvPicPr>
          <p:cNvPr id="5" name="Content Placeholder 4">
            <a:extLst>
              <a:ext uri="{FF2B5EF4-FFF2-40B4-BE49-F238E27FC236}">
                <a16:creationId xmlns:a16="http://schemas.microsoft.com/office/drawing/2014/main" id="{C41566B0-F60E-390C-CA78-F51FD57EAA46}"/>
              </a:ext>
            </a:extLst>
          </p:cNvPr>
          <p:cNvPicPr>
            <a:picLocks noGrp="1" noChangeAspect="1"/>
          </p:cNvPicPr>
          <p:nvPr>
            <p:ph idx="1"/>
          </p:nvPr>
        </p:nvPicPr>
        <p:blipFill>
          <a:blip r:embed="rId2"/>
          <a:stretch>
            <a:fillRect/>
          </a:stretch>
        </p:blipFill>
        <p:spPr>
          <a:xfrm>
            <a:off x="2383075" y="1822026"/>
            <a:ext cx="7486810" cy="4460891"/>
          </a:xfrm>
          <a:prstGeom prst="rect">
            <a:avLst/>
          </a:prstGeom>
        </p:spPr>
      </p:pic>
    </p:spTree>
    <p:extLst>
      <p:ext uri="{BB962C8B-B14F-4D97-AF65-F5344CB8AC3E}">
        <p14:creationId xmlns:p14="http://schemas.microsoft.com/office/powerpoint/2010/main" val="1862402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2DEECF-BB22-E0B9-7F38-1646B21A613D}"/>
              </a:ext>
            </a:extLst>
          </p:cNvPr>
          <p:cNvPicPr>
            <a:picLocks noChangeAspect="1"/>
          </p:cNvPicPr>
          <p:nvPr/>
        </p:nvPicPr>
        <p:blipFill>
          <a:blip r:embed="rId2"/>
          <a:stretch>
            <a:fillRect/>
          </a:stretch>
        </p:blipFill>
        <p:spPr>
          <a:xfrm>
            <a:off x="1497907" y="605683"/>
            <a:ext cx="9944451" cy="5414118"/>
          </a:xfrm>
          <a:prstGeom prst="rect">
            <a:avLst/>
          </a:prstGeom>
        </p:spPr>
      </p:pic>
    </p:spTree>
    <p:extLst>
      <p:ext uri="{BB962C8B-B14F-4D97-AF65-F5344CB8AC3E}">
        <p14:creationId xmlns:p14="http://schemas.microsoft.com/office/powerpoint/2010/main" val="3774962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C151EF-E272-2B31-93FA-7B66B3B38FC1}"/>
              </a:ext>
            </a:extLst>
          </p:cNvPr>
          <p:cNvPicPr>
            <a:picLocks noChangeAspect="1"/>
          </p:cNvPicPr>
          <p:nvPr/>
        </p:nvPicPr>
        <p:blipFill>
          <a:blip r:embed="rId2"/>
          <a:stretch>
            <a:fillRect/>
          </a:stretch>
        </p:blipFill>
        <p:spPr>
          <a:xfrm>
            <a:off x="1175651" y="556811"/>
            <a:ext cx="9840698" cy="5744377"/>
          </a:xfrm>
          <a:prstGeom prst="rect">
            <a:avLst/>
          </a:prstGeom>
        </p:spPr>
      </p:pic>
    </p:spTree>
    <p:extLst>
      <p:ext uri="{BB962C8B-B14F-4D97-AF65-F5344CB8AC3E}">
        <p14:creationId xmlns:p14="http://schemas.microsoft.com/office/powerpoint/2010/main" val="2257223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AA7A2-5FD1-94B3-502B-B85EB17C5B41}"/>
              </a:ext>
            </a:extLst>
          </p:cNvPr>
          <p:cNvSpPr>
            <a:spLocks noGrp="1"/>
          </p:cNvSpPr>
          <p:nvPr>
            <p:ph type="title"/>
          </p:nvPr>
        </p:nvSpPr>
        <p:spPr/>
        <p:txBody>
          <a:bodyPr/>
          <a:lstStyle/>
          <a:p>
            <a:pPr algn="ctr"/>
            <a:r>
              <a:rPr lang="en-IN" dirty="0"/>
              <a:t>Conclusion </a:t>
            </a:r>
          </a:p>
        </p:txBody>
      </p:sp>
      <p:sp>
        <p:nvSpPr>
          <p:cNvPr id="3" name="Content Placeholder 2">
            <a:extLst>
              <a:ext uri="{FF2B5EF4-FFF2-40B4-BE49-F238E27FC236}">
                <a16:creationId xmlns:a16="http://schemas.microsoft.com/office/drawing/2014/main" id="{A0224986-6F15-784D-2EBF-693D7C7ADD06}"/>
              </a:ext>
            </a:extLst>
          </p:cNvPr>
          <p:cNvSpPr>
            <a:spLocks noGrp="1"/>
          </p:cNvSpPr>
          <p:nvPr>
            <p:ph idx="1"/>
          </p:nvPr>
        </p:nvSpPr>
        <p:spPr/>
        <p:txBody>
          <a:bodyPr/>
          <a:lstStyle/>
          <a:p>
            <a:pPr>
              <a:buFont typeface="Arial" panose="020B0604020202020204" pitchFamily="34" charset="0"/>
              <a:buChar char="•"/>
            </a:pPr>
            <a:r>
              <a:rPr lang="en-US" dirty="0"/>
              <a:t>Successfully implemented DMFFT using Fourier transforms to enhance Stable Diffusion outputs, proving that mathematical methods improve AI generation without training or additional costs.</a:t>
            </a:r>
          </a:p>
          <a:p>
            <a:pPr>
              <a:buFont typeface="Arial" panose="020B0604020202020204" pitchFamily="34" charset="0"/>
              <a:buChar char="•"/>
            </a:pPr>
            <a:r>
              <a:rPr lang="en-US" dirty="0"/>
              <a:t>Confirmed LF scaling governs semantics/structure while HF scaling controls sharpness/texture through systematic parameter sweeps on real diffusion images.</a:t>
            </a:r>
          </a:p>
          <a:p>
            <a:pPr>
              <a:buFont typeface="Arial" panose="020B0604020202020204" pitchFamily="34" charset="0"/>
              <a:buChar char="•"/>
            </a:pPr>
            <a:r>
              <a:rPr lang="en-US" dirty="0"/>
              <a:t>Moderate values </a:t>
            </a:r>
            <a:r>
              <a:rPr lang="en-US" dirty="0" err="1"/>
              <a:t>optimise</a:t>
            </a:r>
            <a:r>
              <a:rPr lang="en-US" dirty="0"/>
              <a:t> photorealism; extreme values create </a:t>
            </a:r>
            <a:r>
              <a:rPr lang="en-US" dirty="0" err="1"/>
              <a:t>stylised</a:t>
            </a:r>
            <a:r>
              <a:rPr lang="en-US" dirty="0"/>
              <a:t> effects offering controllable enhancement from realistic to artistic without model modification.</a:t>
            </a:r>
            <a:endParaRPr lang="en-IN" dirty="0"/>
          </a:p>
        </p:txBody>
      </p:sp>
    </p:spTree>
    <p:extLst>
      <p:ext uri="{BB962C8B-B14F-4D97-AF65-F5344CB8AC3E}">
        <p14:creationId xmlns:p14="http://schemas.microsoft.com/office/powerpoint/2010/main" val="91285484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3750</TotalTime>
  <Words>2827</Words>
  <Application>Microsoft Office PowerPoint</Application>
  <PresentationFormat>Widescreen</PresentationFormat>
  <Paragraphs>185</Paragraphs>
  <Slides>33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Cambria Math</vt:lpstr>
      <vt:lpstr>Courier New</vt:lpstr>
      <vt:lpstr>Google Sans Text</vt:lpstr>
      <vt:lpstr>Retrospect</vt:lpstr>
      <vt:lpstr>Mathematics For Computing – 4 (22MAT230)  DMFFT: Improving The Generation Quality Of Diffusion Models Using Fast Fourier Transform</vt:lpstr>
      <vt:lpstr>Introduction</vt:lpstr>
      <vt:lpstr>Problem Statement</vt:lpstr>
      <vt:lpstr>Objective</vt:lpstr>
      <vt:lpstr>Methodology</vt:lpstr>
      <vt:lpstr>PowerPoint Presentation</vt:lpstr>
      <vt:lpstr>PowerPoint Presentation</vt:lpstr>
      <vt:lpstr>       Stable Diffusion </vt:lpstr>
      <vt:lpstr>U – Net </vt:lpstr>
      <vt:lpstr>U-Net structure in diffusion model</vt:lpstr>
      <vt:lpstr>Upblock</vt:lpstr>
      <vt:lpstr>Cross Attention Block </vt:lpstr>
      <vt:lpstr>Fourier Transform </vt:lpstr>
      <vt:lpstr>PowerPoint Presentation</vt:lpstr>
      <vt:lpstr>How does FFT help to enhance the image?</vt:lpstr>
      <vt:lpstr>Amplitude and phase scaling in Fourier transform</vt:lpstr>
      <vt:lpstr>PowerPoint Presentation</vt:lpstr>
      <vt:lpstr>PowerPoint Presentation</vt:lpstr>
      <vt:lpstr>PowerPoint Presentation</vt:lpstr>
      <vt:lpstr>   High Frequency Components Scaling  </vt:lpstr>
      <vt:lpstr>PowerPoint Presentation</vt:lpstr>
      <vt:lpstr>Why does applying FFT sometimes changes the details of the image completely?</vt:lpstr>
      <vt:lpstr>PowerPoint Presentation</vt:lpstr>
      <vt:lpstr>System Pipeline</vt:lpstr>
      <vt:lpstr>PowerPoint Presentation</vt:lpstr>
      <vt:lpstr>PowerPoint Presentation</vt:lpstr>
      <vt:lpstr>PowerPoint Presentation</vt:lpstr>
      <vt:lpstr>PowerPoint Presentation</vt:lpstr>
      <vt:lpstr>System Overview</vt:lpstr>
      <vt:lpstr>Results </vt:lpstr>
      <vt:lpstr>PowerPoint Presentation</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Mathematics For Computing – 4 (22MAT230)  DMFFT: Improving The Generation Quality Of Diffusion Models Using Fast Fourier Transform</dc:title>
  <dc:creator>MAALIKA P</dc:creator>
  <cp:lastModifiedBy>Mithul Pranav</cp:lastModifiedBy>
  <cp:revision>21</cp:revision>
  <dcterms:created xsi:type="dcterms:W3CDTF">2026-01-13T08:35:41Z</dcterms:created>
  <dcterms:modified xsi:type="dcterms:W3CDTF">2026-03-14T04:38:58Z</dcterms:modified>
</cp:coreProperties>
</file>